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3118cabc68439c" /><Relationship Type="http://schemas.openxmlformats.org/officeDocument/2006/relationships/extended-properties" Target="/docProps/app.xml" Id="Ra105b3ee1e8a4ca1" /><Relationship Type="http://schemas.openxmlformats.org/officeDocument/2006/relationships/officeDocument" Target="/ppt/presentation.xml" Id="R4c3230e4224449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07130c55134a74"/>
  </p:sldMasterIdLst>
  <p:notesMasterIdLst>
    <p:notesMasterId xmlns:r="http://schemas.openxmlformats.org/officeDocument/2006/relationships" r:id="Refeb1633be4041b3"/>
  </p:notesMasterIdLst>
  <p:sldIdLst>
    <p:sldId xmlns:r="http://schemas.openxmlformats.org/officeDocument/2006/relationships" id="256" r:id="Rc896b9805ed94baa"/>
    <p:sldId xmlns:r="http://schemas.openxmlformats.org/officeDocument/2006/relationships" id="257" r:id="Rf26855575a4c492b"/>
    <p:sldId xmlns:r="http://schemas.openxmlformats.org/officeDocument/2006/relationships" id="258" r:id="R818bbb8befaf43c4"/>
    <p:sldId xmlns:r="http://schemas.openxmlformats.org/officeDocument/2006/relationships" id="259" r:id="Ra114c36eda37429e"/>
    <p:sldId xmlns:r="http://schemas.openxmlformats.org/officeDocument/2006/relationships" id="260" r:id="R0acd82a1f78c49fc"/>
    <p:sldId xmlns:r="http://schemas.openxmlformats.org/officeDocument/2006/relationships" id="261" r:id="Raac318f9a6c5439d"/>
    <p:sldId xmlns:r="http://schemas.openxmlformats.org/officeDocument/2006/relationships" id="262" r:id="Rde229fe4b2ca4df8"/>
    <p:sldId xmlns:r="http://schemas.openxmlformats.org/officeDocument/2006/relationships" id="263" r:id="R212f5101414e4d97"/>
    <p:sldId xmlns:r="http://schemas.openxmlformats.org/officeDocument/2006/relationships" id="264" r:id="R9fef18d2633241c6"/>
    <p:sldId xmlns:r="http://schemas.openxmlformats.org/officeDocument/2006/relationships" id="265" r:id="R18e69ea950874479"/>
    <p:sldId xmlns:r="http://schemas.openxmlformats.org/officeDocument/2006/relationships" id="266" r:id="Rbec38217bba24840"/>
    <p:sldId xmlns:r="http://schemas.openxmlformats.org/officeDocument/2006/relationships" id="267" r:id="R8fae64724ee843b6"/>
    <p:sldId xmlns:r="http://schemas.openxmlformats.org/officeDocument/2006/relationships" id="268" r:id="R3f622af68bdb47e0"/>
    <p:sldId xmlns:r="http://schemas.openxmlformats.org/officeDocument/2006/relationships" id="269" r:id="R42397676e1034646"/>
    <p:sldId xmlns:r="http://schemas.openxmlformats.org/officeDocument/2006/relationships" id="270" r:id="R72718ef078ed46a9"/>
    <p:sldId xmlns:r="http://schemas.openxmlformats.org/officeDocument/2006/relationships" id="271" r:id="R3c0ea979dbd54fdd"/>
    <p:sldId xmlns:r="http://schemas.openxmlformats.org/officeDocument/2006/relationships" id="272" r:id="R1efecf365a5749c5"/>
    <p:sldId xmlns:r="http://schemas.openxmlformats.org/officeDocument/2006/relationships" id="273" r:id="R12a735e0af254974"/>
    <p:sldId xmlns:r="http://schemas.openxmlformats.org/officeDocument/2006/relationships" id="274" r:id="Rf09f2b5b83764978"/>
    <p:sldId xmlns:r="http://schemas.openxmlformats.org/officeDocument/2006/relationships" id="275" r:id="R20440a43c6974072"/>
    <p:sldId xmlns:r="http://schemas.openxmlformats.org/officeDocument/2006/relationships" id="276" r:id="R498fed90b7b749f4"/>
    <p:sldId xmlns:r="http://schemas.openxmlformats.org/officeDocument/2006/relationships" id="277" r:id="Rfb64d3f519dc4bf4"/>
    <p:sldId xmlns:r="http://schemas.openxmlformats.org/officeDocument/2006/relationships" id="278" r:id="R0565d168ba1846ae"/>
    <p:sldId xmlns:r="http://schemas.openxmlformats.org/officeDocument/2006/relationships" id="279" r:id="Rf4a1779fabc04c15"/>
    <p:sldId xmlns:r="http://schemas.openxmlformats.org/officeDocument/2006/relationships" id="280" r:id="Rc2d0e26ae6fd4c99"/>
    <p:sldId xmlns:r="http://schemas.openxmlformats.org/officeDocument/2006/relationships" id="281" r:id="R85268eb61bc441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345362b39d4151" /><Relationship Type="http://schemas.openxmlformats.org/officeDocument/2006/relationships/slideMaster" Target="/ppt/slideMasters/slideMaster1.xml" Id="Re607130c55134a74" /><Relationship Type="http://schemas.openxmlformats.org/officeDocument/2006/relationships/notesMaster" Target="/ppt/notesMasters/notesMaster1.xml" Id="Refeb1633be4041b3" /><Relationship Type="http://schemas.openxmlformats.org/officeDocument/2006/relationships/presProps" Target="/ppt/presProps.xml" Id="Rf0dfd3ee7bdf4074" /><Relationship Type="http://schemas.openxmlformats.org/officeDocument/2006/relationships/tableStyles" Target="/ppt/tableStyles.xml" Id="Rede0d1960b234f33" /><Relationship Type="http://schemas.openxmlformats.org/officeDocument/2006/relationships/slide" Target="/ppt/slides/slide1.xml" Id="Rc896b9805ed94baa" /><Relationship Type="http://schemas.openxmlformats.org/officeDocument/2006/relationships/slide" Target="/ppt/slides/slide2.xml" Id="Rf26855575a4c492b" /><Relationship Type="http://schemas.openxmlformats.org/officeDocument/2006/relationships/slide" Target="/ppt/slides/slide3.xml" Id="R818bbb8befaf43c4" /><Relationship Type="http://schemas.openxmlformats.org/officeDocument/2006/relationships/slide" Target="/ppt/slides/slide4.xml" Id="Ra114c36eda37429e" /><Relationship Type="http://schemas.openxmlformats.org/officeDocument/2006/relationships/slide" Target="/ppt/slides/slide5.xml" Id="R0acd82a1f78c49fc" /><Relationship Type="http://schemas.openxmlformats.org/officeDocument/2006/relationships/slide" Target="/ppt/slides/slide6.xml" Id="Raac318f9a6c5439d" /><Relationship Type="http://schemas.openxmlformats.org/officeDocument/2006/relationships/slide" Target="/ppt/slides/slide7.xml" Id="Rde229fe4b2ca4df8" /><Relationship Type="http://schemas.openxmlformats.org/officeDocument/2006/relationships/slide" Target="/ppt/slides/slide8.xml" Id="R212f5101414e4d97" /><Relationship Type="http://schemas.openxmlformats.org/officeDocument/2006/relationships/slide" Target="/ppt/slides/slide9.xml" Id="R9fef18d2633241c6" /><Relationship Type="http://schemas.openxmlformats.org/officeDocument/2006/relationships/slide" Target="/ppt/slides/slide10.xml" Id="R18e69ea950874479" /><Relationship Type="http://schemas.openxmlformats.org/officeDocument/2006/relationships/slide" Target="/ppt/slides/slide11.xml" Id="Rbec38217bba24840" /><Relationship Type="http://schemas.openxmlformats.org/officeDocument/2006/relationships/slide" Target="/ppt/slides/slide12.xml" Id="R8fae64724ee843b6" /><Relationship Type="http://schemas.openxmlformats.org/officeDocument/2006/relationships/slide" Target="/ppt/slides/slide13.xml" Id="R3f622af68bdb47e0" /><Relationship Type="http://schemas.openxmlformats.org/officeDocument/2006/relationships/slide" Target="/ppt/slides/slide14.xml" Id="R42397676e1034646" /><Relationship Type="http://schemas.openxmlformats.org/officeDocument/2006/relationships/slide" Target="/ppt/slides/slide15.xml" Id="R72718ef078ed46a9" /><Relationship Type="http://schemas.openxmlformats.org/officeDocument/2006/relationships/slide" Target="/ppt/slides/slide16.xml" Id="R3c0ea979dbd54fdd" /><Relationship Type="http://schemas.openxmlformats.org/officeDocument/2006/relationships/slide" Target="/ppt/slides/slide17.xml" Id="R1efecf365a5749c5" /><Relationship Type="http://schemas.openxmlformats.org/officeDocument/2006/relationships/slide" Target="/ppt/slides/slide18.xml" Id="R12a735e0af254974" /><Relationship Type="http://schemas.openxmlformats.org/officeDocument/2006/relationships/slide" Target="/ppt/slides/slide19.xml" Id="Rf09f2b5b83764978" /><Relationship Type="http://schemas.openxmlformats.org/officeDocument/2006/relationships/slide" Target="/ppt/slides/slide20.xml" Id="R20440a43c6974072" /><Relationship Type="http://schemas.openxmlformats.org/officeDocument/2006/relationships/slide" Target="/ppt/slides/slide21.xml" Id="R498fed90b7b749f4" /><Relationship Type="http://schemas.openxmlformats.org/officeDocument/2006/relationships/slide" Target="/ppt/slides/slide22.xml" Id="Rfb64d3f519dc4bf4" /><Relationship Type="http://schemas.openxmlformats.org/officeDocument/2006/relationships/slide" Target="/ppt/slides/slide23.xml" Id="R0565d168ba1846ae" /><Relationship Type="http://schemas.openxmlformats.org/officeDocument/2006/relationships/slide" Target="/ppt/slides/slide24.xml" Id="Rf4a1779fabc04c15" /><Relationship Type="http://schemas.openxmlformats.org/officeDocument/2006/relationships/slide" Target="/ppt/slides/slide25.xml" Id="Rc2d0e26ae6fd4c99" /><Relationship Type="http://schemas.openxmlformats.org/officeDocument/2006/relationships/slide" Target="/ppt/slides/slide26.xml" Id="R85268eb61bc441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2a644ea3f742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6d3c098fc14851" /><Relationship Type="http://schemas.openxmlformats.org/officeDocument/2006/relationships/notesMaster" Target="/ppt/notesMasters/notesMaster1.xml" Id="R4d41b0a8a7424f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d9a2c238a44a5b" /><Relationship Type="http://schemas.openxmlformats.org/officeDocument/2006/relationships/notesMaster" Target="/ppt/notesMasters/notesMaster1.xml" Id="Rc4171d3d84a143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e4005ee34548aa" /><Relationship Type="http://schemas.openxmlformats.org/officeDocument/2006/relationships/notesMaster" Target="/ppt/notesMasters/notesMaster1.xml" Id="R84bbcd11d4c14a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8110e0cbb34532" /><Relationship Type="http://schemas.openxmlformats.org/officeDocument/2006/relationships/notesMaster" Target="/ppt/notesMasters/notesMaster1.xml" Id="R88197dfa9ad94c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bfff90e694425e" /><Relationship Type="http://schemas.openxmlformats.org/officeDocument/2006/relationships/notesMaster" Target="/ppt/notesMasters/notesMaster1.xml" Id="Rc2368d3a33d345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334ef91f624191" /><Relationship Type="http://schemas.openxmlformats.org/officeDocument/2006/relationships/notesMaster" Target="/ppt/notesMasters/notesMaster1.xml" Id="R71daf96e78a847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965f63ece7489f" /><Relationship Type="http://schemas.openxmlformats.org/officeDocument/2006/relationships/notesMaster" Target="/ppt/notesMasters/notesMaster1.xml" Id="R6a130ea2458743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b3cea059104667" /><Relationship Type="http://schemas.openxmlformats.org/officeDocument/2006/relationships/notesMaster" Target="/ppt/notesMasters/notesMaster1.xml" Id="Rfc82041f6aec4c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6ea1065fa6490b" /><Relationship Type="http://schemas.openxmlformats.org/officeDocument/2006/relationships/notesMaster" Target="/ppt/notesMasters/notesMaster1.xml" Id="R37eb8b38549140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be397636bc4fe6" /><Relationship Type="http://schemas.openxmlformats.org/officeDocument/2006/relationships/notesMaster" Target="/ppt/notesMasters/notesMaster1.xml" Id="R632276cfb96c4c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03209bc10c4ac0" /><Relationship Type="http://schemas.openxmlformats.org/officeDocument/2006/relationships/notesMaster" Target="/ppt/notesMasters/notesMaster1.xml" Id="R528ec3fea7cd44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1bf794cce342ba" /><Relationship Type="http://schemas.openxmlformats.org/officeDocument/2006/relationships/notesMaster" Target="/ppt/notesMasters/notesMaster1.xml" Id="R8747e2137b814d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be645f59944329" /><Relationship Type="http://schemas.openxmlformats.org/officeDocument/2006/relationships/notesMaster" Target="/ppt/notesMasters/notesMaster1.xml" Id="R0b8ef8767a074c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0c23551cd14345" /><Relationship Type="http://schemas.openxmlformats.org/officeDocument/2006/relationships/notesMaster" Target="/ppt/notesMasters/notesMaster1.xml" Id="R35ef8421900743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f81cb3c5954465" /><Relationship Type="http://schemas.openxmlformats.org/officeDocument/2006/relationships/notesMaster" Target="/ppt/notesMasters/notesMaster1.xml" Id="Rd17899d0ad1248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ba70e760464e5c" /><Relationship Type="http://schemas.openxmlformats.org/officeDocument/2006/relationships/notesMaster" Target="/ppt/notesMasters/notesMaster1.xml" Id="R5b047b8f01294a3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36585a676ef4176" /><Relationship Type="http://schemas.openxmlformats.org/officeDocument/2006/relationships/notesMaster" Target="/ppt/notesMasters/notesMaster1.xml" Id="R9fbe5d61d2114b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b1e153c9ab4324" /><Relationship Type="http://schemas.openxmlformats.org/officeDocument/2006/relationships/notesMaster" Target="/ppt/notesMasters/notesMaster1.xml" Id="R18f24784ea6140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9ee70b96aa34a32" /><Relationship Type="http://schemas.openxmlformats.org/officeDocument/2006/relationships/notesMaster" Target="/ppt/notesMasters/notesMaster1.xml" Id="Rec28d848f1dc42d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d32505737c47ab" /><Relationship Type="http://schemas.openxmlformats.org/officeDocument/2006/relationships/notesMaster" Target="/ppt/notesMasters/notesMaster1.xml" Id="Rbe43ef9932d94b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04c5a12d47e4939" /><Relationship Type="http://schemas.openxmlformats.org/officeDocument/2006/relationships/notesMaster" Target="/ppt/notesMasters/notesMaster1.xml" Id="Ra87adc3e0cd64d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8f24e302599405a" /><Relationship Type="http://schemas.openxmlformats.org/officeDocument/2006/relationships/notesMaster" Target="/ppt/notesMasters/notesMaster1.xml" Id="R7c89f5cb96134e3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47129c2db2453f" /><Relationship Type="http://schemas.openxmlformats.org/officeDocument/2006/relationships/notesMaster" Target="/ppt/notesMasters/notesMaster1.xml" Id="R6a20d61ad95f495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6759a8170714131" /><Relationship Type="http://schemas.openxmlformats.org/officeDocument/2006/relationships/notesMaster" Target="/ppt/notesMasters/notesMaster1.xml" Id="R7c70076c674442d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62dd69e5bf94461" /><Relationship Type="http://schemas.openxmlformats.org/officeDocument/2006/relationships/notesMaster" Target="/ppt/notesMasters/notesMaster1.xml" Id="Raea89ed875a6461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df7abbc73ee4824" /><Relationship Type="http://schemas.openxmlformats.org/officeDocument/2006/relationships/notesMaster" Target="/ppt/notesMasters/notesMaster1.xml" Id="R038a87d76e9a41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a aula com uma pergunta: “O que torna um banco de dados bom: ter muitas tabelas ou impedir que o sistema minta?” A resposta que guia toda a apresentação é a segunda. As tabelas são apenas o vocabulário; o objetivo real são as garantias.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Explique que esta não é uma aula abstrata. Cada conceito será ligado ao banco que foi efetivamente implementado no Sistema TIC. O escopo é o primeiro incremento: colaboradores, Trilhas, workflow, calendário, currículo, documentos e notificações.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Antecipe a tese: 39 tabelas podem parecer muito, mas elas separam responsabilidades que teriam ciclos de vida diferentes. Misturar credencial, perfil, documento e tarefa em poucas tabelas reduziria o número de nomes, mas aumentaria ambiguidade, duplicação e risco.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os objetivos como competências observáveis. “Entender” é vago; nesta aula, entender significa conseguir justificar uma decisão, localizar onde ela foi implementada e prever o que acontece quando uma operação inválida é tentada.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Faça uma distinção importante: o banco não substitui o backend. Ele protege invariantes centrais mesmo quando a entrada vem de importação, script administrativo ou uma futura API. O backend adicionará casos de uso, mensagens amigáveis, autenticação e autorização completas.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Sugestão de verificação ao final: peça ao aluno que explique por que track_documents referencia uma versão imutável de modelo, e por que current_content existe mesmo quando já há uma tabela de mudanças.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a contagem não é uma métrica de qualidade isolada. O valor está na separação de ciclos de vida. Uma credencial muda por política de segurança; um perfil muda por dados pessoais; um cargo muda por histórico institucional; uma tarefa muda durante o trabalho da Trilha.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 quatro migrations são fronteiras pedagógicas e técnicas. A primeira cria o alicerce; a segunda depende dele para usuários; a terceira depende dos usuários e catálogos; a quarta depende das Trilhas para documentos e notificações.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dois seeds não são “dados de teste”. Eles instalam referências necessárias para o sistema iniciar de forma determinística: papéis, áreas, workflow e dois modelos de formulário.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Defina migration como um programa de transformação: parte de um esquema conhecido e produz o próximo esquema. Por isso o nome começa com um número e o executor ordena os arquivos pelo nome.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Mostre a dependência: users.role_id só pode existir depois de roles. tracks.created_by_user_id só pode existir depois de users. track_documents só pode existir depois de tracks e document_template_versions.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Discuta uma regra de equipe: uma migration publicada não deve ser reescrita. Se a estrutura mudar, cria-se 005_alguma_mudanca.sql. Isso preserva a capacidade de reproduzir o caminho que levou cada ambiente ao estado atual.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Separe os dois mecanismos. A transação protege a execução: ou toda a migration entra, inclusive o INSERT em schema_migrations, ou nada entra. O checksum protege a história: o mesmo número de versão deve continuar representando os mesmos bytes.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ON_ERROR_STOP faz o psql parar no primeiro erro. --single-transaction envolve os arquivos e comandos passados ao psql em uma única transação. O executor calcula SHA-256 no host, consulta a tabela de controle e recusa uma divergência.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Reforce o alerta de segurança: SHA-256 é rápido e adequado para impressão digital de arquivo. Justamente por ser rápido, não é adequado para senha. Senhas precisam de funções deliberadamente lentas e, idealmente, resistentes a memória, definidas no futuro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UUID é um tipo nativo de 128 bits. gen_random_uuid gera UUID versão 4 aleatório. A probabilidade de colisão é extremamente baixa, mas uma PRIMARY KEY continua necessária para transformar essa expectativa em garantia de unicidade.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SERIAL é uma conveniência do PostgreSQL: cria uma coluna inteira, uma sequência e um valor default baseado em nextval. Sequências podem produzir lacunas quando uma transação falha; portanto, um número serial não deve ser interpretado como contagem exata de registros.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Trade-offs: UUID ocupa mais espaço que integer e valores v4 aleatórios têm pior localidade em índices do que inteiros crescentes. Para este sistema inicial, independência de coordenação e uso seguro em interfaces pesaram mais. Não confunda UUID com segredo: conhecer um UUID não deve conceder acesso.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hierarquia: NOT NULL e tipos eliminam valores ausentes ou incompatíveis; CHECK expressa regras da própria linha; UNIQUE evita duplicidade; FOREIGN KEY preserva existência; trigger entra quando a regra depende de outras linhas ou tabelas.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Exemplos concretos: attendance_requirement_percent BETWEEN 0 AND 100; user_contacts_one_primary_per_type_idx é único apenas onde is_primary; track_event_modality_guard consulta a modalidade da Trilha antes de aceitar hybrid_class.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Segundo a documentação do PostgreSQL, CHECK não deve consultar outras linhas porque a garantia não seria continuamente reavaliada. Por isso regras de sobreposição e compatibilidade entre entidades foram implementadas em triggers, não em CHECKs artificiais.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catálogo de enumeração fixa. Uma tabela catálogo pode receber descrição, hierarquia, ativação e referências. roles possui hierarchy_level; knowledge_areas pode crescer sem alterar a estrutura da tabela tracks.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função audit_row_change usa as variáveis OLD, NEW e TG_OP de um trigger PL/pgSQL. Em UPDATE, jsonb_object_diff registra apenas chaves diferentes. app.current_user_id permite que a futura API declare o ator da sessão.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Limites: auditoria genérica não substitui histórico especializado. Documentos precisam de revisão, ordem e reconstrução, por isso têm tabelas próprias. Além disso, credenciais não recebem o trigger genérico para evitar registrar hashes em audit_events.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ideia de agregado sem obrigar uma única tabela. users é o centro de identidade: e-mail, nome completo, papel e status. Cada conjunto de dados com regras próprias vai para uma tabela relacionada.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Credenciais são um-para-um e podem mudar sem tocar no perfil. Contatos são um-para-muitos. Disponibilidade possui múltiplos intervalos e validação de sobreposição. Cargo é histórico, com índice parcial garantindo apenas um registro onde ends_on IS NULL.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Importação também é histórica: o lote registra totais e o responsável; cada linha guarda raw_data, status e erros. Isso permite aceitar linhas válidas sem perder a explicação das rejeitadas.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tabela armazena password_hash, não define o algoritmo. Isso é proposital: o hash será produzido pelo backend ASP.NET, usando biblioteca apropriada e parâmetros atualizáveis.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OWASP recomenda algoritmos lentos e adaptativos. Argon2id é a recomendação principal; scrypt e PBKDF2 são alternativas contextuais. SHA-256 puro não serve porque permite muitas tentativas por segundo.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temporary_password_requires_change é um CHECK: se is_temporary for true, must_change_password também precisa ser true. O banco registra expiração, tentativas e locked_until, mas o fluxo de autenticação que incrementa tentativas e libera acesso pertence à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separação evita criar uma Trilha “fantasma” para toda sugestão. track_ideas pode guardar proponente interno ou nome/contato externo, estado de análise e decisão.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Quando aceita, a ideia pode originar uma única Trilha. A constraint UNIQUE em tracks.idea_id evita conversões duplicadas. A Trilha é uma realização, não um curso abstrato reutilizado.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Para reoferta, cria-se outra linha em tracks com source_track_id. track_reuse_items documenta o que foi copiado: workflow, currículo, documento, requisito ou competência. Equipe, calendário, conclusões e histórico não são compartilhados por acidente.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fase não é dependência automática. A operação real tem sobreposição: divulgação pode começar enquanto detalhes finais de produção ainda são fechados. Por isso track_tasks tem phase e status próprios, sem foreign key de precedência obrigatória.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status geral de tracks ajuda filtros e comunicação: planning, production, pre_track, running, post_track. Ele não altera em massa o status das tarefas.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decisão reduz automações rígidas prematuras. Se no futuro a equipe descobrir dependências obrigatórias, uma migration pode adicionar relações entre tarefas. O modelo atual preserva o comportamento observado: várias Trilhas simultâneas e não sincronizadas.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Liste exemplos: sete tarefas de planejamento, três de produção, cinco de pré-trilha, três de execução e oito de pós-trilha. Algumas tarefas mencionam alunos e Softex, mas permanecem como controle manual porque os dados detalhados desses módulos foram adiados.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instantiate_track_workflow é um trigger AFTER INSERT em tracks. Ele seleciona o template default ativo e copia os itens para track_tasks, preservando origem, fase, título, ordem e obrigatoriedade.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Explique template versus instância: alterar o template não deve reescrever tarefas de Trilhas existentes. A instância é ajustável e registra o trabalho real. Esse padrão é semelhante ao documento: modelo versionado para novas instâncias, histórico estável para as existentes.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modalidade não é apenas texto exibido na tela. Ela participa de CHECKs e triggers. Uma Trilha online fora de draft precisa ter carga online positiva e carga presencial zero. Uma híbrida precisa das duas.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track_events registra sala e capacidade como fotografia histórica. Não existe motor de reserva nem detecção de conflito porque a faculdade já possui sistema externo. Isso evita duplicar uma responsabilidade institucional.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currículo, track_modules organiza e track_learning_units detalha objetivo, tema, conteúdo, estratégia avaliativa, recursos, delivery_mode e carga. Unidade presencial exige scheduled_event_id; o trigger confirma que o evento é hybrid_class e pertence à mesma Trilha.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document_templates identifica o tipo lógico. document_template_versions guarda a estrutura JSON do formulário, número, notas e publicação. Depois de publicada, a versão é imutável por trigger.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Ao inserir uma Trilha, initialize_track_documents seleciona a versão publicada mais recente de cada template ativo. O documento grava template_version_id, e outro trigger impede sua troca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modelos iniciais refletem os documentos analisados: Proposta/Escopo contém identificação, execução, público, requisitos e competências; Plano de Ensino contém visão geral, bibliografia, módulos e unidades repetíveis.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tabela track_documents mantém current_content para leitura comum. document_revisions agrupa mudanças antes de uma submissão. document_revision_changes registra field_path, operation, old_value, new_value, ator, horário e ordem.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apply_document_change bloqueia o documento, localiza ou cria a revisão draft, obtém o valor anterior pelo caminho JSONB, aplica jsonb_set_deep ou remoção e insere a diferença. O bloqueio evita duas sessões escolherem o mesmo número de ordem simultaneamente.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Trade-off: snapshots completos tornam leitura histórica direta, mas repetem muitos dados. Deltas reduzem repetição e melhoram autoria, porém exigem replay. Por isso o modelo híbrido mantém o estado atual completo e o passado como diferenças.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fluxo protege significado, não apenas dados. Uma revisão draft é mutável. Ao submeter, ganha submitted_at e torna-se imutável. O documento muda para submitted e notificações são criadas para administradores e coordenadores 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document_reviews aceita approved, changes_requested ou rejected. O trigger validate_document_reviewer verifica papel e status do avaliador. apply_document_review atualiza o documento e notifica o autor da revisão.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houver changes_requested, apply_document_change cria a próxima revisão draft sobre o current_content existente. A revisão anterior continua congelada, preservando exatamente o que foi avaliado.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notifications contém o conteúdo compartilhado e referências opcionais à Trilha, tarefa ou documento. notification_recipients cria o estado por usuário.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Esse desenho evita duplicar a mesma mensagem para cada pessoa e permite múltiplos destinatários com leituras independentes. O índice parcial de não lidas acelera a caixa de entrada: considera read_at e archived_at nulos.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Três automações já existem: atribuição de tarefa, submissão documental e revisão. task_due está reservado no tipo, mas precisa de processo agendado no backend para verificar prazos. Avisos manuais podem usar o mesmo modelo.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Defina seed como dados mínimos e reproduzíveis que dão significado ao esquema. Um banco recém-criado precisa saber quais papéis existem e qual workflow será clonado.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IDs dos registros de referência são UUIDs fixos. Isso permite que seeds e testes os referenciem de maneira determinística. Os arquivos também recebem checksum e registro em data_seeds.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Dados operacionais não pertencem ao seed de produção. O antigo John Doe foi removido porque mascarava o fato de que ainda não existe bootstrap de coordenador definido para produção. Esse bootstrap será um caso de uso seguro do backend ou um procedimento administrativo explícito.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file_assets não contém o binário. Ele registra provider, storage_key ou external_url, nome original, media_type, tamanho e hash. user_profiles.photo_file_id e document_revision_files fazem vínculos explícitos.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track_external_resources registra SharePoint, Teams, formulário de inscrição ou outro link. A integração automática foi deliberadamente adiada; neste estágio o banco registra a referência criada manualmente.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Trade-off: guardar binário no banco oferece transação única, mas aumenta backup, I/O e acoplamento. Guardar fora exige controle de autorização, validade de URL e retenção. O modelo mantém a escolha do provedor aberta.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por que scripts em docker-entrypoint-initdb.d não são suficientes como estratégia de evolução: eles rodam apenas quando o diretório de dados é inicializado e não acompanham um banco já existente.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runner versionado funciona tanto no primeiro banco quanto em atualizações. Ele consulta schema_migrations, valida checksum e aplica apenas o que falta.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usuário fictício também era um risco conceitual. O seed precisa ser seguro para qualquer ambiente. Criar o primeiro coordenador demanda segredo, identidade e auditoria; será resolvido explicitamente, não escondido num INSERT de demonstração.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test-database.ps1 cria um projeto Docker separado, usa tmpfs, aplica migrations, executa o smoke test, roda o executor novamente e derruba o ambiente.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SQL de teste insere coordenador, administrativo, mentor e monitor; tenta duplicar e-mail com caixa diferente; verifica senha temporária; rejeita criação de usuário por mentor; testa cargo vigente e sobreposição de disponibilidade.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Também cria Trilhas online e híbrida, rejeita aula síncrona online, valida currículo presencial, prova independência das fases, notificação, revisão diferencial e nova versão de template. Teste não garante ausência de todos os bugs, mas transforma decisões críticas em regressões detectáveis.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“processo existe” de “dados estão modelados”. A tarefa analyze_eligible_students existe porque faz parte do ciclo, mas não há tabela students. Isso permite acompanhar o trabalho sem inventar um modelo pessoal prematuro.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Adiar é correto quando critérios, retenção e documentos ainda não estão estabilizados. Dados pessoais de alunos exigirão decisões de privacidade e ciclo de retenção. Softex exigirá mapear formulários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Pontos de extensão já existem: tracks para o contexto, track_events para calendário, file_assets para evidências e track_external_resources para sistemas externos. Futuras migrations devem referenciar essas entidades, não reescrever o núcleo.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slide como orientação de estudo, não como conteúdo para decorar. A documentação da versão 16 é a referência operacional porque o Docker usa postgres:16-alpine.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Algumas páginas de funções e extensões foram consultadas em versões mais recentes porque descrevem o mesmo recurso utilizado. Para mudanças futuras, sempre verifique a documentação da versão efetivamente instalada.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RFC 9562 é o padrão atual de UUID. A implementação usa UUIDv4 por gen_random_uuid; não usa UUIDv7.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Reforce a diferença entre fonte normativa e fonte implementada. PostgreSQL, RFC, NIST e OWASP explicam propriedades e práticas. Os arquivos locais mostram a decisão concreta tomada no Sistema 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Para estudar, sugira abrir a migration ao lado do slide correspondente. Leia CREATE TABLE, depois constraints, funções e triggers. Por último, consulte o teste para ver como a regra é provocada.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Nenhum slide substitui revisão de segurança do futuro backend. O modelo apenas prepara campos e invariantes; autenticação real deverá ser testada separadamente.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Retome a pergunta inicial. Um bom banco não é o que tem mais tabelas; é o que torna explícito o significado dos dados e bloqueia estados contraditórios.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Peça quatro explicações finais: por que migration não deve ser editada; por que UUID não é senha; por que current_content e changes coexistem; por que task_due ainda depende do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Feche conectando banco e próximos passos: a API ASP.NET deverá usar estas garantias, não duplicá-las de forma divergente. SQL explícito sem ORM tornará importante criar uma camada de infraestrutura com consultas versionadas, transações bem delimitadas e testes de integração. O frontend virá por último, consumindo contratos já estabilizados.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2d3b994654f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9efccaf4dc4b12" /><Relationship Type="http://schemas.openxmlformats.org/officeDocument/2006/relationships/slideLayout" Target="/ppt/slideLayouts/slideLayout1.xml" Id="R2a7bb089112741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7bb089112741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5dc6a71f443a8" /><Relationship Type="http://schemas.openxmlformats.org/officeDocument/2006/relationships/notesSlide" Target="/ppt/notesSlides/notesSlide1.xml" Id="R70ee1dbe9c3744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4783db9644ee9" /><Relationship Type="http://schemas.openxmlformats.org/officeDocument/2006/relationships/notesSlide" Target="/ppt/notesSlides/notesSlide2.xml" Id="Rd74787c8df0d49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45bf1547b4adf" /><Relationship Type="http://schemas.openxmlformats.org/officeDocument/2006/relationships/notesSlide" Target="/ppt/notesSlides/notesSlide3.xml" Id="Re5b33abd0d7a4a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3913d6e5e4445" /><Relationship Type="http://schemas.openxmlformats.org/officeDocument/2006/relationships/notesSlide" Target="/ppt/notesSlides/notesSlide4.xml" Id="Rdc340b1ca77e41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c2aa4a8944b80" /><Relationship Type="http://schemas.openxmlformats.org/officeDocument/2006/relationships/notesSlide" Target="/ppt/notesSlides/notesSlide5.xml" Id="Rddeb8fcd99ba48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461a081b74a54" /><Relationship Type="http://schemas.openxmlformats.org/officeDocument/2006/relationships/notesSlide" Target="/ppt/notesSlides/notesSlide6.xml" Id="R06917458fad144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b26147ed340a6" /><Relationship Type="http://schemas.openxmlformats.org/officeDocument/2006/relationships/notesSlide" Target="/ppt/notesSlides/notesSlide7.xml" Id="R9daed0841ee145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1135ae76b4801" /><Relationship Type="http://schemas.openxmlformats.org/officeDocument/2006/relationships/notesSlide" Target="/ppt/notesSlides/notesSlide8.xml" Id="Rcc8c11f8f4154f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4935ed9324814" /><Relationship Type="http://schemas.openxmlformats.org/officeDocument/2006/relationships/notesSlide" Target="/ppt/notesSlides/notesSlide9.xml" Id="R85c04f778d1540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e8b5644a94dbb" /><Relationship Type="http://schemas.openxmlformats.org/officeDocument/2006/relationships/notesSlide" Target="/ppt/notesSlides/notesSlide10.xml" Id="R122ce6b75d2841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a6df7ce79495e" /><Relationship Type="http://schemas.openxmlformats.org/officeDocument/2006/relationships/notesSlide" Target="/ppt/notesSlides/notesSlide11.xml" Id="Rbfb0810e7f0a4d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f77cfdf4846e8" /><Relationship Type="http://schemas.openxmlformats.org/officeDocument/2006/relationships/notesSlide" Target="/ppt/notesSlides/notesSlide12.xml" Id="R1c62c234162d4a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595a48c2047bf" /><Relationship Type="http://schemas.openxmlformats.org/officeDocument/2006/relationships/notesSlide" Target="/ppt/notesSlides/notesSlide13.xml" Id="R206cd159430447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b10ec4e1b4c20" /><Relationship Type="http://schemas.openxmlformats.org/officeDocument/2006/relationships/notesSlide" Target="/ppt/notesSlides/notesSlide14.xml" Id="R949e4e4927f349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ac368be574d51" /><Relationship Type="http://schemas.openxmlformats.org/officeDocument/2006/relationships/notesSlide" Target="/ppt/notesSlides/notesSlide15.xml" Id="R3b518f0cd79d49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1f16aea6645b5" /><Relationship Type="http://schemas.openxmlformats.org/officeDocument/2006/relationships/notesSlide" Target="/ppt/notesSlides/notesSlide16.xml" Id="R85140e070c0241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df022607541ae" /><Relationship Type="http://schemas.openxmlformats.org/officeDocument/2006/relationships/notesSlide" Target="/ppt/notesSlides/notesSlide17.xml" Id="R40795787fbfc44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39f5197144314" /><Relationship Type="http://schemas.openxmlformats.org/officeDocument/2006/relationships/notesSlide" Target="/ppt/notesSlides/notesSlide18.xml" Id="R5b9764c5223049e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44b7473244476" /><Relationship Type="http://schemas.openxmlformats.org/officeDocument/2006/relationships/notesSlide" Target="/ppt/notesSlides/notesSlide19.xml" Id="R96dc190fbb0f4a1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7e104fc454bac" /><Relationship Type="http://schemas.openxmlformats.org/officeDocument/2006/relationships/notesSlide" Target="/ppt/notesSlides/notesSlide20.xml" Id="R741775baf75a466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70c75d5644228" /><Relationship Type="http://schemas.openxmlformats.org/officeDocument/2006/relationships/notesSlide" Target="/ppt/notesSlides/notesSlide21.xml" Id="R166450a792ca43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df1b499d64138" /><Relationship Type="http://schemas.openxmlformats.org/officeDocument/2006/relationships/notesSlide" Target="/ppt/notesSlides/notesSlide22.xml" Id="Rb4b966411c51491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f1f51cf154f88" /><Relationship Type="http://schemas.openxmlformats.org/officeDocument/2006/relationships/notesSlide" Target="/ppt/notesSlides/notesSlide23.xml" Id="Rfa6958048e024f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ad5fc2aff4dc8" /><Relationship Type="http://schemas.openxmlformats.org/officeDocument/2006/relationships/notesSlide" Target="/ppt/notesSlides/notesSlide24.xml" Id="R9e9e86618ad741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8e0d87cf84245" /><Relationship Type="http://schemas.openxmlformats.org/officeDocument/2006/relationships/notesSlide" Target="/ppt/notesSlides/notesSlide25.xml" Id="Ra7391f7b25fa4c8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107a028534498" /><Relationship Type="http://schemas.openxmlformats.org/officeDocument/2006/relationships/notesSlide" Target="/ppt/notesSlides/notesSlide26.xml" Id="R53930040e6c041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42">
            <a:extLst xmlns:a="http://schemas.openxmlformats.org/drawingml/2006/main">
              <a:ext uri="{FF2B5EF4-FFF2-40B4-BE49-F238E27FC236}">
                <a16:creationId xmlns:a16="http://schemas.microsoft.com/office/drawing/2014/main" id="{F9B84D91-496B-45FE-82B1-28E8CAB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828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SISTEMA TIC • AULA DE PROJETO DE BANCO</a:t>
            </a:r>
          </a:p>
        </p:txBody>
      </p:sp>
      <p:sp>
        <p:nvSpPr>
          <p:cNvPr id="2" name="text-41-174">
            <a:extLst xmlns:a="http://schemas.openxmlformats.org/drawingml/2006/main">
              <a:ext uri="{FF2B5EF4-FFF2-40B4-BE49-F238E27FC236}">
                <a16:creationId xmlns:a16="http://schemas.microsoft.com/office/drawing/2014/main" id="{1561F22C-6BC2-4B37-9B0E-906D7629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9810750" cy="243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banco como
contrato executável</a:t>
            </a:r>
          </a:p>
        </p:txBody>
      </p:sp>
      <p:sp>
        <p:nvSpPr>
          <p:cNvPr id="3" name="text-41-485">
            <a:extLst xmlns:a="http://schemas.openxmlformats.org/drawingml/2006/main">
              <a:ext uri="{FF2B5EF4-FFF2-40B4-BE49-F238E27FC236}">
                <a16:creationId xmlns:a16="http://schemas.microsoft.com/office/drawing/2014/main" id="{0ADADBEC-C598-48E6-9551-E1CE13D9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19625"/>
            <a:ext cx="7429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Como 4 migrations transformam o ciclo de vida das Trilhas em 39 tabelas, regras verificáveis e histórico confiável.</a:t>
            </a:r>
          </a:p>
        </p:txBody>
      </p:sp>
      <p:sp>
        <p:nvSpPr>
          <p:cNvPr id="4" name="shape-1014-42">
            <a:extLst xmlns:a="http://schemas.openxmlformats.org/drawingml/2006/main">
              <a:ext uri="{FF2B5EF4-FFF2-40B4-BE49-F238E27FC236}">
                <a16:creationId xmlns:a16="http://schemas.microsoft.com/office/drawing/2014/main" id="{E6B4465F-8820-44BB-8CB8-0CBCB95C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0050"/>
            <a:ext cx="2143125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042-97">
            <a:extLst xmlns:a="http://schemas.openxmlformats.org/drawingml/2006/main">
              <a:ext uri="{FF2B5EF4-FFF2-40B4-BE49-F238E27FC236}">
                <a16:creationId xmlns:a16="http://schemas.microsoft.com/office/drawing/2014/main" id="{A0A3FE19-022F-412D-B6FB-9FE70831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923925"/>
            <a:ext cx="1609725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 16
SQL sem ORM</a:t>
            </a:r>
          </a:p>
        </p:txBody>
      </p:sp>
    </p:spTree>
    <p:extLst>
      <p:ext uri="{BB962C8B-B14F-4D97-AF65-F5344CB8AC3E}">
        <p14:creationId xmlns:p14="http://schemas.microsoft.com/office/powerpoint/2010/main" val="2200679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64AA63F-E792-4DBE-9940-FEEF9CBE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98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Ao final, você deverá explicar o banco — não apenas executá-lo</a:t>
            </a:r>
          </a:p>
        </p:txBody>
      </p:sp>
      <p:cxnSp>
        <p:nvCxnSpPr>
          <p:cNvPr id="7" name="slide-2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2-source">
            <a:extLst xmlns:a="http://schemas.openxmlformats.org/drawingml/2006/main">
              <a:ext uri="{FF2B5EF4-FFF2-40B4-BE49-F238E27FC236}">
                <a16:creationId xmlns:a16="http://schemas.microsoft.com/office/drawing/2014/main" id="{4740E9F6-F150-4898-8716-44B0750C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Objetivos da aula</a:t>
            </a:r>
          </a:p>
        </p:txBody>
      </p:sp>
      <p:sp>
        <p:nvSpPr>
          <p:cNvPr id="4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D25AB36F-0FCA-45A2-8B02-6EBD102E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graphicFrame>
        <p:nvGraphicFramePr>
          <p:cNvPr id="10" name="learning-objectives"/>
          <p:cNvGraphicFramePr/>
          <p:nvPr/>
        </p:nvGraphicFramePr>
        <p:xfrm>
          <a:off xmlns:a="http://schemas.openxmlformats.org/drawingml/2006/main" x="390525" y="1657350"/>
          <a:ext xmlns:a="http://schemas.openxmlformats.org/drawingml/2006/main" cx="114109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10525125"/>
              </a:tblGrid>
              <a:tr h="682625">
                <a:tc>
                  <a:txBody>
                    <a:bodyPr/>
                    <a:lstStyle/>
                    <a:p>
                      <a: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Ler uma migration como uma mudança de estado do esquema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Justificar UUID, catálogos, auditoria e constraints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Navegar do colaborador até a Trilha e seu currículo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Explicar documentos versionados por diferenças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Distinguir migration, seed e dado operacional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t>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Separar garantias do banco de responsabilidades futuras da API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22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A2A07010-5FA8-48DB-8827-7DC10D8F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estrutura cresce por responsabilidades, não por acaso</a:t>
            </a:r>
          </a:p>
        </p:txBody>
      </p:sp>
      <p:cxnSp>
        <p:nvCxnSpPr>
          <p:cNvPr id="19" name="slide-3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3-source">
            <a:extLst xmlns:a="http://schemas.openxmlformats.org/drawingml/2006/main">
              <a:ext uri="{FF2B5EF4-FFF2-40B4-BE49-F238E27FC236}">
                <a16:creationId xmlns:a16="http://schemas.microsoft.com/office/drawing/2014/main" id="{E24063C1-42DC-4F65-B04C-3A5BF8B8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Fonte: database/migrations e database/seeds</a:t>
            </a:r>
          </a:p>
        </p:txBody>
      </p:sp>
      <p:sp>
        <p:nvSpPr>
          <p:cNvPr id="4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904C72C6-F9E3-4B07-A0C2-C9F795EC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5" name="text-41-133">
            <a:extLst xmlns:a="http://schemas.openxmlformats.org/drawingml/2006/main">
              <a:ext uri="{FF2B5EF4-FFF2-40B4-BE49-F238E27FC236}">
                <a16:creationId xmlns:a16="http://schemas.microsoft.com/office/drawing/2014/main" id="{7CEB026A-0F89-4D2F-8414-2EE095AB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109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primeiro incremento cabe em três números — e cada um representa uma decisão de engenharia.</a:t>
            </a:r>
          </a:p>
        </p:txBody>
      </p:sp>
      <p:sp>
        <p:nvSpPr>
          <p:cNvPr id="6" name="shape-41-316">
            <a:extLst xmlns:a="http://schemas.openxmlformats.org/drawingml/2006/main">
              <a:ext uri="{FF2B5EF4-FFF2-40B4-BE49-F238E27FC236}">
                <a16:creationId xmlns:a16="http://schemas.microsoft.com/office/drawing/2014/main" id="{05B87CB5-55F3-495B-860A-831E60AE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09900"/>
            <a:ext cx="35623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71-355">
            <a:extLst xmlns:a="http://schemas.openxmlformats.org/drawingml/2006/main">
              <a:ext uri="{FF2B5EF4-FFF2-40B4-BE49-F238E27FC236}">
                <a16:creationId xmlns:a16="http://schemas.microsoft.com/office/drawing/2014/main" id="{7F506975-4C7E-45ED-A8A8-A034D29C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81375"/>
            <a:ext cx="29908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8" name="text-71-479">
            <a:extLst xmlns:a="http://schemas.openxmlformats.org/drawingml/2006/main">
              <a:ext uri="{FF2B5EF4-FFF2-40B4-BE49-F238E27FC236}">
                <a16:creationId xmlns:a16="http://schemas.microsoft.com/office/drawing/2014/main" id="{E62BFF11-7AC7-43AC-A47B-2B9339CB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62475"/>
            <a:ext cx="2990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migrations</a:t>
            </a:r>
          </a:p>
        </p:txBody>
      </p:sp>
      <p:sp>
        <p:nvSpPr>
          <p:cNvPr id="9" name="text-71-530">
            <a:extLst xmlns:a="http://schemas.openxmlformats.org/drawingml/2006/main">
              <a:ext uri="{FF2B5EF4-FFF2-40B4-BE49-F238E27FC236}">
                <a16:creationId xmlns:a16="http://schemas.microsoft.com/office/drawing/2014/main" id="{CED963DC-1D5C-4775-9A92-D4C768B4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48250"/>
            <a:ext cx="2990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Fundação, colaboradores, Trilhas e documentos/notificações.</a:t>
            </a:r>
          </a:p>
        </p:txBody>
      </p:sp>
      <p:sp>
        <p:nvSpPr>
          <p:cNvPr id="10" name="shape-453-316">
            <a:extLst xmlns:a="http://schemas.openxmlformats.org/drawingml/2006/main">
              <a:ext uri="{FF2B5EF4-FFF2-40B4-BE49-F238E27FC236}">
                <a16:creationId xmlns:a16="http://schemas.microsoft.com/office/drawing/2014/main" id="{B616D356-376A-4E24-B654-50AB915D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9900"/>
            <a:ext cx="35623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483-355">
            <a:extLst xmlns:a="http://schemas.openxmlformats.org/drawingml/2006/main">
              <a:ext uri="{FF2B5EF4-FFF2-40B4-BE49-F238E27FC236}">
                <a16:creationId xmlns:a16="http://schemas.microsoft.com/office/drawing/2014/main" id="{12113CE5-3614-4FBC-BDFC-7568576B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81375"/>
            <a:ext cx="29908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39</a:t>
            </a:r>
          </a:p>
        </p:txBody>
      </p:sp>
      <p:sp>
        <p:nvSpPr>
          <p:cNvPr id="12" name="text-483-479">
            <a:extLst xmlns:a="http://schemas.openxmlformats.org/drawingml/2006/main">
              <a:ext uri="{FF2B5EF4-FFF2-40B4-BE49-F238E27FC236}">
                <a16:creationId xmlns:a16="http://schemas.microsoft.com/office/drawing/2014/main" id="{34D5FF9E-5923-4FDF-A879-A0F72220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62475"/>
            <a:ext cx="2990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tabelas</a:t>
            </a:r>
          </a:p>
        </p:txBody>
      </p:sp>
      <p:sp>
        <p:nvSpPr>
          <p:cNvPr id="13" name="text-483-530">
            <a:extLst xmlns:a="http://schemas.openxmlformats.org/drawingml/2006/main">
              <a:ext uri="{FF2B5EF4-FFF2-40B4-BE49-F238E27FC236}">
                <a16:creationId xmlns:a16="http://schemas.microsoft.com/office/drawing/2014/main" id="{E6A28197-255C-42E3-B8A9-FC9AF7F0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048250"/>
            <a:ext cx="2990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Incluindo controle de versão, catálogos e histórico.</a:t>
            </a:r>
          </a:p>
        </p:txBody>
      </p:sp>
      <p:sp>
        <p:nvSpPr>
          <p:cNvPr id="14" name="shape-865-316">
            <a:extLst xmlns:a="http://schemas.openxmlformats.org/drawingml/2006/main">
              <a:ext uri="{FF2B5EF4-FFF2-40B4-BE49-F238E27FC236}">
                <a16:creationId xmlns:a16="http://schemas.microsoft.com/office/drawing/2014/main" id="{FFF2673C-477D-4B9F-A8AB-C1B89B48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09900"/>
            <a:ext cx="35623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895-355">
            <a:extLst xmlns:a="http://schemas.openxmlformats.org/drawingml/2006/main">
              <a:ext uri="{FF2B5EF4-FFF2-40B4-BE49-F238E27FC236}">
                <a16:creationId xmlns:a16="http://schemas.microsoft.com/office/drawing/2014/main" id="{C02F4E4A-7B03-4D85-B83A-44E1F913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81375"/>
            <a:ext cx="29908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6" name="text-895-479">
            <a:extLst xmlns:a="http://schemas.openxmlformats.org/drawingml/2006/main">
              <a:ext uri="{FF2B5EF4-FFF2-40B4-BE49-F238E27FC236}">
                <a16:creationId xmlns:a16="http://schemas.microsoft.com/office/drawing/2014/main" id="{B7E347BB-6CE8-4655-947E-82F2DA57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62475"/>
            <a:ext cx="2990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seeds</a:t>
            </a:r>
          </a:p>
        </p:txBody>
      </p:sp>
      <p:sp>
        <p:nvSpPr>
          <p:cNvPr id="17" name="text-895-530">
            <a:extLst xmlns:a="http://schemas.openxmlformats.org/drawingml/2006/main">
              <a:ext uri="{FF2B5EF4-FFF2-40B4-BE49-F238E27FC236}">
                <a16:creationId xmlns:a16="http://schemas.microsoft.com/office/drawing/2014/main" id="{55AEC7BF-7E0B-4E8A-B355-AF0F1379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48250"/>
            <a:ext cx="2990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Referências operacionais e modelos documentais iniciais.</a:t>
            </a:r>
          </a:p>
        </p:txBody>
      </p:sp>
    </p:spTree>
    <p:extLst>
      <p:ext uri="{BB962C8B-B14F-4D97-AF65-F5344CB8AC3E}">
        <p14:creationId xmlns:p14="http://schemas.microsoft.com/office/powerpoint/2010/main" val="1370426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47A725FC-89EA-4E91-81B7-5D48946E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Uma migration é uma transformação ordenada do esquema</a:t>
            </a:r>
          </a:p>
        </p:txBody>
      </p:sp>
      <p:cxnSp>
        <p:nvCxnSpPr>
          <p:cNvPr id="22" name="slide-4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4-source">
            <a:extLst xmlns:a="http://schemas.openxmlformats.org/drawingml/2006/main">
              <a:ext uri="{FF2B5EF4-FFF2-40B4-BE49-F238E27FC236}">
                <a16:creationId xmlns:a16="http://schemas.microsoft.com/office/drawing/2014/main" id="{1E17BD06-826E-4FF6-B1E5-32BBB785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Fonte: database/scripts/apply-migrations.ps1</a:t>
            </a:r>
          </a:p>
        </p:txBody>
      </p:sp>
      <p:sp>
        <p:nvSpPr>
          <p:cNvPr id="4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26DB260C-8AC0-4749-8614-C16BDA75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cxnSp>
        <p:nvCxnSpPr>
          <p:cNvPr id="25" name="connector-167-327"/>
          <p:cNvCxnSpPr/>
          <p:nvPr/>
        </p:nvCxnSpPr>
        <p:spPr>
          <a:xfrm xmlns:a="http://schemas.openxmlformats.org/drawingml/2006/main">
            <a:off x="1590675" y="3114675"/>
            <a:ext cx="262890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26" name="connector-463-327"/>
          <p:cNvCxnSpPr/>
          <p:nvPr/>
        </p:nvCxnSpPr>
        <p:spPr>
          <a:xfrm xmlns:a="http://schemas.openxmlformats.org/drawingml/2006/main">
            <a:off x="4410075" y="3114675"/>
            <a:ext cx="262890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27" name="connector-759-327"/>
          <p:cNvCxnSpPr/>
          <p:nvPr/>
        </p:nvCxnSpPr>
        <p:spPr>
          <a:xfrm xmlns:a="http://schemas.openxmlformats.org/drawingml/2006/main">
            <a:off x="7229475" y="3114675"/>
            <a:ext cx="262890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8" name="shape-41-214">
            <a:extLst xmlns:a="http://schemas.openxmlformats.org/drawingml/2006/main">
              <a:ext uri="{FF2B5EF4-FFF2-40B4-BE49-F238E27FC236}">
                <a16:creationId xmlns:a16="http://schemas.microsoft.com/office/drawing/2014/main" id="{40AA6400-3164-4C3B-814E-FCE1A11E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23812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5-236">
            <a:extLst xmlns:a="http://schemas.openxmlformats.org/drawingml/2006/main">
              <a:ext uri="{FF2B5EF4-FFF2-40B4-BE49-F238E27FC236}">
                <a16:creationId xmlns:a16="http://schemas.microsoft.com/office/drawing/2014/main" id="{2AF016EE-3C0C-40E6-A3EA-955BF634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1924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001</a:t>
            </a:r>
          </a:p>
        </p:txBody>
      </p:sp>
      <p:sp>
        <p:nvSpPr>
          <p:cNvPr id="10" name="text-65-284">
            <a:extLst xmlns:a="http://schemas.openxmlformats.org/drawingml/2006/main">
              <a:ext uri="{FF2B5EF4-FFF2-40B4-BE49-F238E27FC236}">
                <a16:creationId xmlns:a16="http://schemas.microsoft.com/office/drawing/2014/main" id="{C48FE352-4D9D-4CEC-B1E9-3C879DCD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9240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Fundação
Extensões
Catálogos
Auditoria</a:t>
            </a:r>
          </a:p>
        </p:txBody>
      </p:sp>
      <p:sp>
        <p:nvSpPr>
          <p:cNvPr id="11" name="shape-337-214">
            <a:extLst xmlns:a="http://schemas.openxmlformats.org/drawingml/2006/main">
              <a:ext uri="{FF2B5EF4-FFF2-40B4-BE49-F238E27FC236}">
                <a16:creationId xmlns:a16="http://schemas.microsoft.com/office/drawing/2014/main" id="{10BFD193-7A5C-40CC-91C1-A5152E91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38350"/>
            <a:ext cx="23812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61-236">
            <a:extLst xmlns:a="http://schemas.openxmlformats.org/drawingml/2006/main">
              <a:ext uri="{FF2B5EF4-FFF2-40B4-BE49-F238E27FC236}">
                <a16:creationId xmlns:a16="http://schemas.microsoft.com/office/drawing/2014/main" id="{0F7EADD7-417E-40F9-99DF-BF557FAE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47900"/>
            <a:ext cx="1924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002</a:t>
            </a:r>
          </a:p>
        </p:txBody>
      </p:sp>
      <p:sp>
        <p:nvSpPr>
          <p:cNvPr id="13" name="text-361-284">
            <a:extLst xmlns:a="http://schemas.openxmlformats.org/drawingml/2006/main">
              <a:ext uri="{FF2B5EF4-FFF2-40B4-BE49-F238E27FC236}">
                <a16:creationId xmlns:a16="http://schemas.microsoft.com/office/drawing/2014/main" id="{6D2291B1-ECC3-48E6-B17D-698F7816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05100"/>
            <a:ext cx="19240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Usuários
Credenciais
Perfis
Cargos</a:t>
            </a:r>
          </a:p>
        </p:txBody>
      </p:sp>
      <p:sp>
        <p:nvSpPr>
          <p:cNvPr id="14" name="shape-633-214">
            <a:extLst xmlns:a="http://schemas.openxmlformats.org/drawingml/2006/main">
              <a:ext uri="{FF2B5EF4-FFF2-40B4-BE49-F238E27FC236}">
                <a16:creationId xmlns:a16="http://schemas.microsoft.com/office/drawing/2014/main" id="{C9C9BF57-18FD-486A-BD95-CBD4C2CD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38350"/>
            <a:ext cx="23812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57-236">
            <a:extLst xmlns:a="http://schemas.openxmlformats.org/drawingml/2006/main">
              <a:ext uri="{FF2B5EF4-FFF2-40B4-BE49-F238E27FC236}">
                <a16:creationId xmlns:a16="http://schemas.microsoft.com/office/drawing/2014/main" id="{C728264D-7E9A-42A1-8FD3-6BB61232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1924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003</a:t>
            </a:r>
          </a:p>
        </p:txBody>
      </p:sp>
      <p:sp>
        <p:nvSpPr>
          <p:cNvPr id="16" name="text-657-284">
            <a:extLst xmlns:a="http://schemas.openxmlformats.org/drawingml/2006/main">
              <a:ext uri="{FF2B5EF4-FFF2-40B4-BE49-F238E27FC236}">
                <a16:creationId xmlns:a16="http://schemas.microsoft.com/office/drawing/2014/main" id="{A6881B68-84AF-4700-8884-CA936094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05100"/>
            <a:ext cx="19240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Ideias
Trilhas
Workflow
Currículo</a:t>
            </a:r>
          </a:p>
        </p:txBody>
      </p:sp>
      <p:sp>
        <p:nvSpPr>
          <p:cNvPr id="17" name="shape-929-214">
            <a:extLst xmlns:a="http://schemas.openxmlformats.org/drawingml/2006/main">
              <a:ext uri="{FF2B5EF4-FFF2-40B4-BE49-F238E27FC236}">
                <a16:creationId xmlns:a16="http://schemas.microsoft.com/office/drawing/2014/main" id="{A2DEF359-74B3-45C8-B001-61C4C28E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038350"/>
            <a:ext cx="23812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953-236">
            <a:extLst xmlns:a="http://schemas.openxmlformats.org/drawingml/2006/main">
              <a:ext uri="{FF2B5EF4-FFF2-40B4-BE49-F238E27FC236}">
                <a16:creationId xmlns:a16="http://schemas.microsoft.com/office/drawing/2014/main" id="{76C0F0B3-3B29-4A3E-A159-44BE063B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47900"/>
            <a:ext cx="1924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004</a:t>
            </a:r>
          </a:p>
        </p:txBody>
      </p:sp>
      <p:sp>
        <p:nvSpPr>
          <p:cNvPr id="19" name="text-953-284">
            <a:extLst xmlns:a="http://schemas.openxmlformats.org/drawingml/2006/main">
              <a:ext uri="{FF2B5EF4-FFF2-40B4-BE49-F238E27FC236}">
                <a16:creationId xmlns:a16="http://schemas.microsoft.com/office/drawing/2014/main" id="{0B8273B5-12A9-417B-960C-1AD9F546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05100"/>
            <a:ext cx="19240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Documentos
Revisões
Validações
Notificações</a:t>
            </a:r>
          </a:p>
        </p:txBody>
      </p:sp>
      <p:sp>
        <p:nvSpPr>
          <p:cNvPr id="20" name="text-41-492">
            <a:extLst xmlns:a="http://schemas.openxmlformats.org/drawingml/2006/main">
              <a:ext uri="{FF2B5EF4-FFF2-40B4-BE49-F238E27FC236}">
                <a16:creationId xmlns:a16="http://schemas.microsoft.com/office/drawing/2014/main" id="{8A5C463A-9DC1-47CE-9F9C-859DF4B4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86300"/>
            <a:ext cx="114109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ordem é parte do contrato: uma migration só usa objetos criados pelas anteriores.</a:t>
            </a:r>
          </a:p>
        </p:txBody>
      </p:sp>
    </p:spTree>
    <p:extLst>
      <p:ext uri="{BB962C8B-B14F-4D97-AF65-F5344CB8AC3E}">
        <p14:creationId xmlns:p14="http://schemas.microsoft.com/office/powerpoint/2010/main" val="1556164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F9E58A8-5514-4EF5-BE24-522BF1CA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Transação e checksum protegem problemas diferentes</a:t>
            </a:r>
          </a:p>
        </p:txBody>
      </p:sp>
      <p:cxnSp>
        <p:nvCxnSpPr>
          <p:cNvPr id="16" name="slide-5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5-source">
            <a:extLst xmlns:a="http://schemas.openxmlformats.org/drawingml/2006/main">
              <a:ext uri="{FF2B5EF4-FFF2-40B4-BE49-F238E27FC236}">
                <a16:creationId xmlns:a16="http://schemas.microsoft.com/office/drawing/2014/main" id="{83687873-1F3B-49C3-BA2C-E3FEF98F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 16: Transactions e psql --single-transaction • NIST FIPS 180-4</a:t>
            </a:r>
          </a:p>
        </p:txBody>
      </p:sp>
      <p:sp>
        <p:nvSpPr>
          <p:cNvPr id="4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F1269529-E39D-49E6-8CD7-B02193C6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5" name="shape-41-172">
            <a:extLst xmlns:a="http://schemas.openxmlformats.org/drawingml/2006/main">
              <a:ext uri="{FF2B5EF4-FFF2-40B4-BE49-F238E27FC236}">
                <a16:creationId xmlns:a16="http://schemas.microsoft.com/office/drawing/2014/main" id="{56B3B66F-4B04-4D32-8636-91DFF225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38300"/>
            <a:ext cx="5286375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text-65-196">
            <a:extLst xmlns:a="http://schemas.openxmlformats.org/drawingml/2006/main">
              <a:ext uri="{FF2B5EF4-FFF2-40B4-BE49-F238E27FC236}">
                <a16:creationId xmlns:a16="http://schemas.microsoft.com/office/drawing/2014/main" id="{0762E6B9-D12C-484E-95BA-C7F2F805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4829175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psql -X -v ON_ERROR_STOP=1 \
  --single-transaction \
  -f 003_tracks.sql \
  -c "INSERT INTO schema_migrations ..."</a:t>
            </a:r>
          </a:p>
        </p:txBody>
      </p:sp>
      <p:sp>
        <p:nvSpPr>
          <p:cNvPr id="7" name="text-41-467">
            <a:extLst xmlns:a="http://schemas.openxmlformats.org/drawingml/2006/main">
              <a:ext uri="{FF2B5EF4-FFF2-40B4-BE49-F238E27FC236}">
                <a16:creationId xmlns:a16="http://schemas.microsoft.com/office/drawing/2014/main" id="{BB6934C2-66F3-4D80-A1ED-2E5CACF4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48175"/>
            <a:ext cx="5286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Simplificação do executor PowerShell implementado</a:t>
            </a:r>
          </a:p>
        </p:txBody>
      </p:sp>
      <p:sp>
        <p:nvSpPr>
          <p:cNvPr id="8" name="shape-646-172">
            <a:extLst xmlns:a="http://schemas.openxmlformats.org/drawingml/2006/main">
              <a:ext uri="{FF2B5EF4-FFF2-40B4-BE49-F238E27FC236}">
                <a16:creationId xmlns:a16="http://schemas.microsoft.com/office/drawing/2014/main" id="{1B6A2C65-EA99-41F5-8918-57CC45FE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38300"/>
            <a:ext cx="56483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70-194">
            <a:extLst xmlns:a="http://schemas.openxmlformats.org/drawingml/2006/main">
              <a:ext uri="{FF2B5EF4-FFF2-40B4-BE49-F238E27FC236}">
                <a16:creationId xmlns:a16="http://schemas.microsoft.com/office/drawing/2014/main" id="{C399B7F5-CFFA-447B-A875-B6F27ED2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51911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Atomicidade</a:t>
            </a:r>
          </a:p>
        </p:txBody>
      </p:sp>
      <p:sp>
        <p:nvSpPr>
          <p:cNvPr id="10" name="text-670-242">
            <a:extLst xmlns:a="http://schemas.openxmlformats.org/drawingml/2006/main">
              <a:ext uri="{FF2B5EF4-FFF2-40B4-BE49-F238E27FC236}">
                <a16:creationId xmlns:a16="http://schemas.microsoft.com/office/drawing/2014/main" id="{51A81F4C-7AEB-469D-A442-3223AFF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51911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 qualquer comando falhar, criação do esquema e registro da versão são revertidos juntos.</a:t>
            </a:r>
          </a:p>
        </p:txBody>
      </p:sp>
      <p:sp>
        <p:nvSpPr>
          <p:cNvPr id="11" name="shape-646-324">
            <a:extLst xmlns:a="http://schemas.openxmlformats.org/drawingml/2006/main">
              <a:ext uri="{FF2B5EF4-FFF2-40B4-BE49-F238E27FC236}">
                <a16:creationId xmlns:a16="http://schemas.microsoft.com/office/drawing/2014/main" id="{36DC4FD9-0886-4CE1-86AB-40CC124C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86100"/>
            <a:ext cx="56483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670-346">
            <a:extLst xmlns:a="http://schemas.openxmlformats.org/drawingml/2006/main">
              <a:ext uri="{FF2B5EF4-FFF2-40B4-BE49-F238E27FC236}">
                <a16:creationId xmlns:a16="http://schemas.microsoft.com/office/drawing/2014/main" id="{22EB0C5E-567F-494A-8C20-4B1F2D36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95650"/>
            <a:ext cx="51911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Integridade do arquivo</a:t>
            </a:r>
          </a:p>
        </p:txBody>
      </p:sp>
      <p:sp>
        <p:nvSpPr>
          <p:cNvPr id="13" name="text-670-394">
            <a:extLst xmlns:a="http://schemas.openxmlformats.org/drawingml/2006/main">
              <a:ext uri="{FF2B5EF4-FFF2-40B4-BE49-F238E27FC236}">
                <a16:creationId xmlns:a16="http://schemas.microsoft.com/office/drawing/2014/main" id="{96735C5D-1F14-495B-87A0-610F7466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51911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17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SHA-256 identifica alteração no conteúdo de uma versão já aplicada.</a:t>
            </a:r>
          </a:p>
        </p:txBody>
      </p:sp>
      <p:sp>
        <p:nvSpPr>
          <p:cNvPr id="14" name="text-646-492">
            <a:extLst xmlns:a="http://schemas.openxmlformats.org/drawingml/2006/main">
              <a:ext uri="{FF2B5EF4-FFF2-40B4-BE49-F238E27FC236}">
                <a16:creationId xmlns:a16="http://schemas.microsoft.com/office/drawing/2014/main" id="{F96E8174-E6D5-45C8-820C-BC0D451D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86300"/>
            <a:ext cx="5334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Importante: SHA-256 aqui verifica migration; não é algoritmo de senha.</a:t>
            </a:r>
          </a:p>
        </p:txBody>
      </p:sp>
    </p:spTree>
    <p:extLst>
      <p:ext uri="{BB962C8B-B14F-4D97-AF65-F5344CB8AC3E}">
        <p14:creationId xmlns:p14="http://schemas.microsoft.com/office/powerpoint/2010/main" val="20793003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C4BFBD3-A09D-409E-9F23-FA8FE2F8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UUID elimina coordenação de IDs; não elimina trade-offs</a:t>
            </a:r>
          </a:p>
        </p:txBody>
      </p:sp>
      <p:cxnSp>
        <p:nvCxnSpPr>
          <p:cNvPr id="15" name="slide-6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6-source">
            <a:extLst xmlns:a="http://schemas.openxmlformats.org/drawingml/2006/main">
              <a:ext uri="{FF2B5EF4-FFF2-40B4-BE49-F238E27FC236}">
                <a16:creationId xmlns:a16="http://schemas.microsoft.com/office/drawing/2014/main" id="{CF829739-077A-44B5-9745-B5E9D846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 UUID Type • RFC 9562 • PostgreSQL Numeric Types (serial)</a:t>
            </a:r>
          </a:p>
        </p:txBody>
      </p:sp>
      <p:sp>
        <p:nvSpPr>
          <p:cNvPr id="4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29F7BF90-9446-4AC9-8273-DEF017D5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5" name="text-41-138">
            <a:extLst xmlns:a="http://schemas.openxmlformats.org/drawingml/2006/main">
              <a:ext uri="{FF2B5EF4-FFF2-40B4-BE49-F238E27FC236}">
                <a16:creationId xmlns:a16="http://schemas.microsoft.com/office/drawing/2014/main" id="{ACA88BE2-96E0-4870-B040-C01DE288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14450"/>
            <a:ext cx="5476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 decisão do projeto</a:t>
            </a:r>
          </a:p>
        </p:txBody>
      </p:sp>
      <p:sp>
        <p:nvSpPr>
          <p:cNvPr id="6" name="shape-41-190">
            <a:extLst xmlns:a="http://schemas.openxmlformats.org/drawingml/2006/main">
              <a:ext uri="{FF2B5EF4-FFF2-40B4-BE49-F238E27FC236}">
                <a16:creationId xmlns:a16="http://schemas.microsoft.com/office/drawing/2014/main" id="{A3CC6C98-335A-4152-B9CF-D426F037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547687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5-212">
            <a:extLst xmlns:a="http://schemas.openxmlformats.org/drawingml/2006/main">
              <a:ext uri="{FF2B5EF4-FFF2-40B4-BE49-F238E27FC236}">
                <a16:creationId xmlns:a16="http://schemas.microsoft.com/office/drawing/2014/main" id="{B43797BF-CDDB-4EA3-94B9-4E029A12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UUID</a:t>
            </a:r>
          </a:p>
        </p:txBody>
      </p:sp>
      <p:sp>
        <p:nvSpPr>
          <p:cNvPr id="8" name="text-65-260">
            <a:extLst xmlns:a="http://schemas.openxmlformats.org/drawingml/2006/main">
              <a:ext uri="{FF2B5EF4-FFF2-40B4-BE49-F238E27FC236}">
                <a16:creationId xmlns:a16="http://schemas.microsoft.com/office/drawing/2014/main" id="{B724D40B-1F9E-45C6-A60C-CB05805E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5019675" cy="1838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128 bits
• gerado com gen_random_uuid()
• útil em APIs e integrações
• não revela contagem sequencial</a:t>
            </a:r>
          </a:p>
        </p:txBody>
      </p:sp>
      <p:sp>
        <p:nvSpPr>
          <p:cNvPr id="9" name="text-664-138">
            <a:extLst xmlns:a="http://schemas.openxmlformats.org/drawingml/2006/main">
              <a:ext uri="{FF2B5EF4-FFF2-40B4-BE49-F238E27FC236}">
                <a16:creationId xmlns:a16="http://schemas.microsoft.com/office/drawing/2014/main" id="{91F38088-E086-4C15-A62B-7B9EB522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14450"/>
            <a:ext cx="5476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O mecanismo removido</a:t>
            </a:r>
          </a:p>
        </p:txBody>
      </p:sp>
      <p:sp>
        <p:nvSpPr>
          <p:cNvPr id="10" name="shape-664-190">
            <a:extLst xmlns:a="http://schemas.openxmlformats.org/drawingml/2006/main">
              <a:ext uri="{FF2B5EF4-FFF2-40B4-BE49-F238E27FC236}">
                <a16:creationId xmlns:a16="http://schemas.microsoft.com/office/drawing/2014/main" id="{D4EB1809-9C26-40C7-8E52-E6FFEEA4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47687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8-212">
            <a:extLst xmlns:a="http://schemas.openxmlformats.org/drawingml/2006/main">
              <a:ext uri="{FF2B5EF4-FFF2-40B4-BE49-F238E27FC236}">
                <a16:creationId xmlns:a16="http://schemas.microsoft.com/office/drawing/2014/main" id="{1470D89C-88D3-4EA2-B8E1-75200D29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193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SERIAL</a:t>
            </a:r>
          </a:p>
        </p:txBody>
      </p:sp>
      <p:sp>
        <p:nvSpPr>
          <p:cNvPr id="12" name="text-688-260">
            <a:extLst xmlns:a="http://schemas.openxmlformats.org/drawingml/2006/main">
              <a:ext uri="{FF2B5EF4-FFF2-40B4-BE49-F238E27FC236}">
                <a16:creationId xmlns:a16="http://schemas.microsoft.com/office/drawing/2014/main" id="{01ED3050-AE88-4C33-AC15-42986063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5019675" cy="1838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integer + sequence
• simples e compacto
• sequência é local ao banco
• pode ter lacunas após rollback</a:t>
            </a:r>
          </a:p>
        </p:txBody>
      </p:sp>
      <p:sp>
        <p:nvSpPr>
          <p:cNvPr id="13" name="text-41-520">
            <a:extLst xmlns:a="http://schemas.openxmlformats.org/drawingml/2006/main">
              <a:ext uri="{FF2B5EF4-FFF2-40B4-BE49-F238E27FC236}">
                <a16:creationId xmlns:a16="http://schemas.microsoft.com/office/drawing/2014/main" id="{4EA13E13-D1D9-4A83-98A5-C591DD99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114109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Escolha contextual: SERIAL não é errado; UUID foi mais coerente com entidades expostas e futuras integrações.</a:t>
            </a:r>
          </a:p>
        </p:txBody>
      </p:sp>
    </p:spTree>
    <p:extLst>
      <p:ext uri="{BB962C8B-B14F-4D97-AF65-F5344CB8AC3E}">
        <p14:creationId xmlns:p14="http://schemas.microsoft.com/office/powerpoint/2010/main" val="3994123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F4E3EC4-C2B3-4FC7-9C59-62F10438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71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banco deve rejeitar estados que o domínio considera impossíveis</a:t>
            </a:r>
          </a:p>
        </p:txBody>
      </p:sp>
      <p:cxnSp>
        <p:nvCxnSpPr>
          <p:cNvPr id="18" name="slide-7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7-source">
            <a:extLst xmlns:a="http://schemas.openxmlformats.org/drawingml/2006/main">
              <a:ext uri="{FF2B5EF4-FFF2-40B4-BE49-F238E27FC236}">
                <a16:creationId xmlns:a16="http://schemas.microsoft.com/office/drawing/2014/main" id="{2706A1CC-3C1B-421A-B235-41A0D5C9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 16 — Constraints • migrations 002 e 003</a:t>
            </a:r>
          </a:p>
        </p:txBody>
      </p:sp>
      <p:sp>
        <p:nvSpPr>
          <p:cNvPr id="4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79423E44-F950-4184-A359-78842664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5" name="shape-41-154">
            <a:extLst xmlns:a="http://schemas.openxmlformats.org/drawingml/2006/main">
              <a:ext uri="{FF2B5EF4-FFF2-40B4-BE49-F238E27FC236}">
                <a16:creationId xmlns:a16="http://schemas.microsoft.com/office/drawing/2014/main" id="{E1CE868E-8C86-4B86-B3FF-739930C2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66850"/>
            <a:ext cx="5476875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5-176">
            <a:extLst xmlns:a="http://schemas.openxmlformats.org/drawingml/2006/main">
              <a:ext uri="{FF2B5EF4-FFF2-40B4-BE49-F238E27FC236}">
                <a16:creationId xmlns:a16="http://schemas.microsoft.com/office/drawing/2014/main" id="{A239A120-DCF5-438C-A33D-F5DAE2F2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764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</a:t>
            </a:r>
          </a:p>
        </p:txBody>
      </p:sp>
      <p:sp>
        <p:nvSpPr>
          <p:cNvPr id="7" name="text-65-224">
            <a:extLst xmlns:a="http://schemas.openxmlformats.org/drawingml/2006/main">
              <a:ext uri="{FF2B5EF4-FFF2-40B4-BE49-F238E27FC236}">
                <a16:creationId xmlns:a16="http://schemas.microsoft.com/office/drawing/2014/main" id="{744A6114-6AD4-4AAA-8740-75D58D97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50196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 a própria linha: datas em ordem, percentual entre 0 e 100, cargas coerentes com modalidade.</a:t>
            </a:r>
          </a:p>
        </p:txBody>
      </p:sp>
      <p:sp>
        <p:nvSpPr>
          <p:cNvPr id="8" name="shape-664-154">
            <a:extLst xmlns:a="http://schemas.openxmlformats.org/drawingml/2006/main">
              <a:ext uri="{FF2B5EF4-FFF2-40B4-BE49-F238E27FC236}">
                <a16:creationId xmlns:a16="http://schemas.microsoft.com/office/drawing/2014/main" id="{B01FC485-EF05-4B90-AB1B-5C0F9C31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476875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88-176">
            <a:extLst xmlns:a="http://schemas.openxmlformats.org/drawingml/2006/main">
              <a:ext uri="{FF2B5EF4-FFF2-40B4-BE49-F238E27FC236}">
                <a16:creationId xmlns:a16="http://schemas.microsoft.com/office/drawing/2014/main" id="{7D488EBE-3A74-4AAE-A0BB-947EE5A6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UNIQUE / índice parcial</a:t>
            </a:r>
          </a:p>
        </p:txBody>
      </p:sp>
      <p:sp>
        <p:nvSpPr>
          <p:cNvPr id="10" name="text-688-224">
            <a:extLst xmlns:a="http://schemas.openxmlformats.org/drawingml/2006/main">
              <a:ext uri="{FF2B5EF4-FFF2-40B4-BE49-F238E27FC236}">
                <a16:creationId xmlns:a16="http://schemas.microsoft.com/office/drawing/2014/main" id="{4F3719BE-3054-4CCE-B2BF-FD39F44B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50196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Garante e-mail único e somente um cargo vigente ou um contato principal por tipo.</a:t>
            </a:r>
          </a:p>
        </p:txBody>
      </p:sp>
      <p:sp>
        <p:nvSpPr>
          <p:cNvPr id="11" name="shape-41-382">
            <a:extLst xmlns:a="http://schemas.openxmlformats.org/drawingml/2006/main">
              <a:ext uri="{FF2B5EF4-FFF2-40B4-BE49-F238E27FC236}">
                <a16:creationId xmlns:a16="http://schemas.microsoft.com/office/drawing/2014/main" id="{CC99A8C2-3C81-4C5D-B350-0BC92869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38550"/>
            <a:ext cx="5476875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65-404">
            <a:extLst xmlns:a="http://schemas.openxmlformats.org/drawingml/2006/main">
              <a:ext uri="{FF2B5EF4-FFF2-40B4-BE49-F238E27FC236}">
                <a16:creationId xmlns:a16="http://schemas.microsoft.com/office/drawing/2014/main" id="{6060DCAF-54F5-4836-9F4B-DADDDAE4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481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FOREIGN KEY</a:t>
            </a:r>
          </a:p>
        </p:txBody>
      </p:sp>
      <p:sp>
        <p:nvSpPr>
          <p:cNvPr id="13" name="text-65-452">
            <a:extLst xmlns:a="http://schemas.openxmlformats.org/drawingml/2006/main">
              <a:ext uri="{FF2B5EF4-FFF2-40B4-BE49-F238E27FC236}">
                <a16:creationId xmlns:a16="http://schemas.microsoft.com/office/drawing/2014/main" id="{3AEFA84F-AFFC-4C7E-9E91-27F46F87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50196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Impede uma tarefa de apontar para usuário inexistente e preserva relações entre Trilha, eventos e currículo.</a:t>
            </a:r>
          </a:p>
        </p:txBody>
      </p:sp>
      <p:sp>
        <p:nvSpPr>
          <p:cNvPr id="14" name="shape-664-382">
            <a:extLst xmlns:a="http://schemas.openxmlformats.org/drawingml/2006/main">
              <a:ext uri="{FF2B5EF4-FFF2-40B4-BE49-F238E27FC236}">
                <a16:creationId xmlns:a16="http://schemas.microsoft.com/office/drawing/2014/main" id="{BB67F9CF-EDD1-433E-BB6E-9066AA7A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5476875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88-404">
            <a:extLst xmlns:a="http://schemas.openxmlformats.org/drawingml/2006/main">
              <a:ext uri="{FF2B5EF4-FFF2-40B4-BE49-F238E27FC236}">
                <a16:creationId xmlns:a16="http://schemas.microsoft.com/office/drawing/2014/main" id="{10C9424E-4DE5-45F4-A405-AC3BC2CA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TRIGGER</a:t>
            </a:r>
          </a:p>
        </p:txBody>
      </p:sp>
      <p:sp>
        <p:nvSpPr>
          <p:cNvPr id="16" name="text-688-452">
            <a:extLst xmlns:a="http://schemas.openxmlformats.org/drawingml/2006/main">
              <a:ext uri="{FF2B5EF4-FFF2-40B4-BE49-F238E27FC236}">
                <a16:creationId xmlns:a16="http://schemas.microsoft.com/office/drawing/2014/main" id="{413388E0-78FB-4D43-A9E5-2E20572A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05300"/>
            <a:ext cx="50196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Aplica regras entre linhas/tabelas: sobreposição de disponibilidade e evento presencial somente em Trilha híbrida.</a:t>
            </a:r>
          </a:p>
        </p:txBody>
      </p:sp>
    </p:spTree>
    <p:extLst>
      <p:ext uri="{BB962C8B-B14F-4D97-AF65-F5344CB8AC3E}">
        <p14:creationId xmlns:p14="http://schemas.microsoft.com/office/powerpoint/2010/main" val="7048321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31E8FF78-B94A-4E2B-AF9A-598E87CE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Catálogos dão vocabulário; auditoria dá memória</a:t>
            </a:r>
          </a:p>
        </p:txBody>
      </p:sp>
      <p:cxnSp>
        <p:nvCxnSpPr>
          <p:cNvPr id="13" name="slide-8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8-source">
            <a:extLst xmlns:a="http://schemas.openxmlformats.org/drawingml/2006/main">
              <a:ext uri="{FF2B5EF4-FFF2-40B4-BE49-F238E27FC236}">
                <a16:creationId xmlns:a16="http://schemas.microsoft.com/office/drawing/2014/main" id="{23E7BB56-3EE3-4A33-8992-4B22CF8E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Fonte: 001_foundation.sql • PostgreSQL Trigger Functions</a:t>
            </a:r>
          </a:p>
        </p:txBody>
      </p:sp>
      <p:sp>
        <p:nvSpPr>
          <p:cNvPr id="4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C856BED8-0B57-47E3-97DE-C41F3377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5" name="shape-41-166">
            <a:extLst xmlns:a="http://schemas.openxmlformats.org/drawingml/2006/main">
              <a:ext uri="{FF2B5EF4-FFF2-40B4-BE49-F238E27FC236}">
                <a16:creationId xmlns:a16="http://schemas.microsoft.com/office/drawing/2014/main" id="{F9C63CEC-5290-41EF-9086-40C93854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81150"/>
            <a:ext cx="5476875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5-188">
            <a:extLst xmlns:a="http://schemas.openxmlformats.org/drawingml/2006/main">
              <a:ext uri="{FF2B5EF4-FFF2-40B4-BE49-F238E27FC236}">
                <a16:creationId xmlns:a16="http://schemas.microsoft.com/office/drawing/2014/main" id="{D8703E90-170E-4724-A363-F51A18B5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907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Catálogos</a:t>
            </a:r>
          </a:p>
        </p:txBody>
      </p:sp>
      <p:sp>
        <p:nvSpPr>
          <p:cNvPr id="7" name="text-65-236">
            <a:extLst xmlns:a="http://schemas.openxmlformats.org/drawingml/2006/main">
              <a:ext uri="{FF2B5EF4-FFF2-40B4-BE49-F238E27FC236}">
                <a16:creationId xmlns:a16="http://schemas.microsoft.com/office/drawing/2014/main" id="{80F4B9E7-C97A-44C1-8C08-49A8C30F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5019675" cy="241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roles
job_positions
knowledge_areas
track_categories
IDs estáveis + código legível + ativação</a:t>
            </a:r>
          </a:p>
        </p:txBody>
      </p:sp>
      <p:sp>
        <p:nvSpPr>
          <p:cNvPr id="8" name="shape-664-166">
            <a:extLst xmlns:a="http://schemas.openxmlformats.org/drawingml/2006/main">
              <a:ext uri="{FF2B5EF4-FFF2-40B4-BE49-F238E27FC236}">
                <a16:creationId xmlns:a16="http://schemas.microsoft.com/office/drawing/2014/main" id="{7BD14788-C74C-4963-A047-EA1E913D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5476875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88-188">
            <a:extLst xmlns:a="http://schemas.openxmlformats.org/drawingml/2006/main">
              <a:ext uri="{FF2B5EF4-FFF2-40B4-BE49-F238E27FC236}">
                <a16:creationId xmlns:a16="http://schemas.microsoft.com/office/drawing/2014/main" id="{ACBE5EC0-AA1C-455C-A9DA-60B39DE9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Auditoria</a:t>
            </a:r>
          </a:p>
        </p:txBody>
      </p:sp>
      <p:sp>
        <p:nvSpPr>
          <p:cNvPr id="10" name="text-688-236">
            <a:extLst xmlns:a="http://schemas.openxmlformats.org/drawingml/2006/main">
              <a:ext uri="{FF2B5EF4-FFF2-40B4-BE49-F238E27FC236}">
                <a16:creationId xmlns:a16="http://schemas.microsoft.com/office/drawing/2014/main" id="{9617F4BF-4C8B-4778-81F9-F6863530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5019675" cy="241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entidade + ID
ação: insert/update/delete
ator + data + correlação
diferenças em JSONB</a:t>
            </a:r>
          </a:p>
        </p:txBody>
      </p:sp>
      <p:sp>
        <p:nvSpPr>
          <p:cNvPr id="11" name="text-41-548">
            <a:extLst xmlns:a="http://schemas.openxmlformats.org/drawingml/2006/main">
              <a:ext uri="{FF2B5EF4-FFF2-40B4-BE49-F238E27FC236}">
                <a16:creationId xmlns:a16="http://schemas.microsoft.com/office/drawing/2014/main" id="{4F6B7632-0C5A-47CF-A70D-E01D14A1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11410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Catálogo responde “quais valores existem?”. Auditoria responde “o que mudou e por quem?”.</a:t>
            </a:r>
          </a:p>
        </p:txBody>
      </p:sp>
    </p:spTree>
    <p:extLst>
      <p:ext uri="{BB962C8B-B14F-4D97-AF65-F5344CB8AC3E}">
        <p14:creationId xmlns:p14="http://schemas.microsoft.com/office/powerpoint/2010/main" val="9260306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527FF8D5-FAF0-4A82-B173-0E0735BB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Um colaborador reúne dados com ciclos de vida diferentes</a:t>
            </a:r>
          </a:p>
        </p:txBody>
      </p:sp>
      <p:cxnSp>
        <p:nvCxnSpPr>
          <p:cNvPr id="33" name="slide-9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9-source">
            <a:extLst xmlns:a="http://schemas.openxmlformats.org/drawingml/2006/main">
              <a:ext uri="{FF2B5EF4-FFF2-40B4-BE49-F238E27FC236}">
                <a16:creationId xmlns:a16="http://schemas.microsoft.com/office/drawing/2014/main" id="{050FE2AD-75CD-4815-B981-F984A481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Fonte: 002_users.sql</a:t>
            </a:r>
          </a:p>
        </p:txBody>
      </p:sp>
      <p:sp>
        <p:nvSpPr>
          <p:cNvPr id="4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86EC7A3B-7AA9-4368-BC73-34FD1AAB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cxnSp>
        <p:nvCxnSpPr>
          <p:cNvPr id="36" name="connector-353-211"/>
          <p:cNvCxnSpPr/>
          <p:nvPr/>
        </p:nvCxnSpPr>
        <p:spPr>
          <a:xfrm xmlns:a="http://schemas.openxmlformats.org/drawingml/2006/main">
            <a:off x="3362325" y="2009775"/>
            <a:ext cx="17145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7" name="connector-353-349"/>
          <p:cNvCxnSpPr/>
          <p:nvPr/>
        </p:nvCxnSpPr>
        <p:spPr>
          <a:xfrm xmlns:a="http://schemas.openxmlformats.org/drawingml/2006/main">
            <a:off x="3362325" y="3324225"/>
            <a:ext cx="17145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8" name="connector-353-487"/>
          <p:cNvCxnSpPr/>
          <p:nvPr/>
        </p:nvCxnSpPr>
        <p:spPr>
          <a:xfrm xmlns:a="http://schemas.openxmlformats.org/drawingml/2006/main">
            <a:off x="3362325" y="4638675"/>
            <a:ext cx="17145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9" name="connector-747-211"/>
          <p:cNvCxnSpPr/>
          <p:nvPr/>
        </p:nvCxnSpPr>
        <p:spPr>
          <a:xfrm xmlns:a="http://schemas.openxmlformats.org/drawingml/2006/main">
            <a:off x="7115175" y="2009775"/>
            <a:ext cx="17145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0" name="connector-747-349"/>
          <p:cNvCxnSpPr/>
          <p:nvPr/>
        </p:nvCxnSpPr>
        <p:spPr>
          <a:xfrm xmlns:a="http://schemas.openxmlformats.org/drawingml/2006/main">
            <a:off x="7115175" y="3324225"/>
            <a:ext cx="17145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1" name="connector-747-487"/>
          <p:cNvCxnSpPr/>
          <p:nvPr/>
        </p:nvCxnSpPr>
        <p:spPr>
          <a:xfrm xmlns:a="http://schemas.openxmlformats.org/drawingml/2006/main">
            <a:off x="7115175" y="4638675"/>
            <a:ext cx="17145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1" name="shape-533-148">
            <a:extLst xmlns:a="http://schemas.openxmlformats.org/drawingml/2006/main">
              <a:ext uri="{FF2B5EF4-FFF2-40B4-BE49-F238E27FC236}">
                <a16:creationId xmlns:a16="http://schemas.microsoft.com/office/drawing/2014/main" id="{EC5FBAD7-2EDB-4FC6-BCB9-52ABD034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409700"/>
            <a:ext cx="2038350" cy="38290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565-288">
            <a:extLst xmlns:a="http://schemas.openxmlformats.org/drawingml/2006/main">
              <a:ext uri="{FF2B5EF4-FFF2-40B4-BE49-F238E27FC236}">
                <a16:creationId xmlns:a16="http://schemas.microsoft.com/office/drawing/2014/main" id="{BF795920-EDD8-4C60-904E-26499F3B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43200"/>
            <a:ext cx="1428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099"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users</a:t>
            </a:r>
          </a:p>
        </p:txBody>
      </p:sp>
      <p:sp>
        <p:nvSpPr>
          <p:cNvPr id="13" name="text-557-341">
            <a:extLst xmlns:a="http://schemas.openxmlformats.org/drawingml/2006/main">
              <a:ext uri="{FF2B5EF4-FFF2-40B4-BE49-F238E27FC236}">
                <a16:creationId xmlns:a16="http://schemas.microsoft.com/office/drawing/2014/main" id="{2FB618D7-9179-4368-A561-944B5763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48025"/>
            <a:ext cx="1581150" cy="466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identidade + papel global</a:t>
            </a:r>
          </a:p>
        </p:txBody>
      </p:sp>
      <p:sp>
        <p:nvSpPr>
          <p:cNvPr id="14" name="shape-41-148">
            <a:extLst xmlns:a="http://schemas.openxmlformats.org/drawingml/2006/main">
              <a:ext uri="{FF2B5EF4-FFF2-40B4-BE49-F238E27FC236}">
                <a16:creationId xmlns:a16="http://schemas.microsoft.com/office/drawing/2014/main" id="{5CE11640-8EEE-4A65-BE24-5DDAF288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2971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5-170">
            <a:extLst xmlns:a="http://schemas.openxmlformats.org/drawingml/2006/main">
              <a:ext uri="{FF2B5EF4-FFF2-40B4-BE49-F238E27FC236}">
                <a16:creationId xmlns:a16="http://schemas.microsoft.com/office/drawing/2014/main" id="{4B688D0A-B89F-4D9E-BD5B-FCFCE638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2514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credentials</a:t>
            </a:r>
          </a:p>
        </p:txBody>
      </p:sp>
      <p:sp>
        <p:nvSpPr>
          <p:cNvPr id="16" name="text-65-218">
            <a:extLst xmlns:a="http://schemas.openxmlformats.org/drawingml/2006/main">
              <a:ext uri="{FF2B5EF4-FFF2-40B4-BE49-F238E27FC236}">
                <a16:creationId xmlns:a16="http://schemas.microsoft.com/office/drawing/2014/main" id="{7EC169E7-A942-4F5B-BBB3-70129A1B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2514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senha e bloqueio</a:t>
            </a:r>
          </a:p>
        </p:txBody>
      </p:sp>
      <p:sp>
        <p:nvSpPr>
          <p:cNvPr id="17" name="shape-41-286">
            <a:extLst xmlns:a="http://schemas.openxmlformats.org/drawingml/2006/main">
              <a:ext uri="{FF2B5EF4-FFF2-40B4-BE49-F238E27FC236}">
                <a16:creationId xmlns:a16="http://schemas.microsoft.com/office/drawing/2014/main" id="{C086093C-01A1-4713-8E18-0173D2E0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24150"/>
            <a:ext cx="2971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65-308">
            <a:extLst xmlns:a="http://schemas.openxmlformats.org/drawingml/2006/main">
              <a:ext uri="{FF2B5EF4-FFF2-40B4-BE49-F238E27FC236}">
                <a16:creationId xmlns:a16="http://schemas.microsoft.com/office/drawing/2014/main" id="{3592FB47-116D-489A-AE81-FEEDB05C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"/>
            <a:ext cx="2514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profiles</a:t>
            </a:r>
          </a:p>
        </p:txBody>
      </p:sp>
      <p:sp>
        <p:nvSpPr>
          <p:cNvPr id="19" name="text-65-356">
            <a:extLst xmlns:a="http://schemas.openxmlformats.org/drawingml/2006/main">
              <a:ext uri="{FF2B5EF4-FFF2-40B4-BE49-F238E27FC236}">
                <a16:creationId xmlns:a16="http://schemas.microsoft.com/office/drawing/2014/main" id="{E58E08FA-D5E2-4761-8A74-6CDAFC40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90900"/>
            <a:ext cx="2514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nome preferido, foto, Lattes</a:t>
            </a:r>
          </a:p>
        </p:txBody>
      </p:sp>
      <p:sp>
        <p:nvSpPr>
          <p:cNvPr id="20" name="shape-41-424">
            <a:extLst xmlns:a="http://schemas.openxmlformats.org/drawingml/2006/main">
              <a:ext uri="{FF2B5EF4-FFF2-40B4-BE49-F238E27FC236}">
                <a16:creationId xmlns:a16="http://schemas.microsoft.com/office/drawing/2014/main" id="{A18039E1-D254-4E43-A394-087C9693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38600"/>
            <a:ext cx="2971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65-446">
            <a:extLst xmlns:a="http://schemas.openxmlformats.org/drawingml/2006/main">
              <a:ext uri="{FF2B5EF4-FFF2-40B4-BE49-F238E27FC236}">
                <a16:creationId xmlns:a16="http://schemas.microsoft.com/office/drawing/2014/main" id="{8B59D231-804D-47DB-A3C4-96B58F56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2514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contacts</a:t>
            </a:r>
          </a:p>
        </p:txBody>
      </p:sp>
      <p:sp>
        <p:nvSpPr>
          <p:cNvPr id="22" name="text-65-494">
            <a:extLst xmlns:a="http://schemas.openxmlformats.org/drawingml/2006/main">
              <a:ext uri="{FF2B5EF4-FFF2-40B4-BE49-F238E27FC236}">
                <a16:creationId xmlns:a16="http://schemas.microsoft.com/office/drawing/2014/main" id="{B737B754-9373-4796-B3BB-6A7CB48F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05350"/>
            <a:ext cx="2514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e-mail, telefone, WhatsApp</a:t>
            </a:r>
          </a:p>
        </p:txBody>
      </p:sp>
      <p:sp>
        <p:nvSpPr>
          <p:cNvPr id="23" name="shape-927-148">
            <a:extLst xmlns:a="http://schemas.openxmlformats.org/drawingml/2006/main">
              <a:ext uri="{FF2B5EF4-FFF2-40B4-BE49-F238E27FC236}">
                <a16:creationId xmlns:a16="http://schemas.microsoft.com/office/drawing/2014/main" id="{7BD4B8BF-903E-41DA-BD35-86E9BF97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409700"/>
            <a:ext cx="2971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951-170">
            <a:extLst xmlns:a="http://schemas.openxmlformats.org/drawingml/2006/main">
              <a:ext uri="{FF2B5EF4-FFF2-40B4-BE49-F238E27FC236}">
                <a16:creationId xmlns:a16="http://schemas.microsoft.com/office/drawing/2014/main" id="{09F83958-A15C-4AE8-ABA8-EA1E02B1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19250"/>
            <a:ext cx="2514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availability</a:t>
            </a:r>
          </a:p>
        </p:txBody>
      </p:sp>
      <p:sp>
        <p:nvSpPr>
          <p:cNvPr id="25" name="text-951-218">
            <a:extLst xmlns:a="http://schemas.openxmlformats.org/drawingml/2006/main">
              <a:ext uri="{FF2B5EF4-FFF2-40B4-BE49-F238E27FC236}">
                <a16:creationId xmlns:a16="http://schemas.microsoft.com/office/drawing/2014/main" id="{E89029C3-A45A-4F82-8B7D-F02808E1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76450"/>
            <a:ext cx="2514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blocos semanais</a:t>
            </a:r>
          </a:p>
        </p:txBody>
      </p:sp>
      <p:sp>
        <p:nvSpPr>
          <p:cNvPr id="26" name="shape-927-286">
            <a:extLst xmlns:a="http://schemas.openxmlformats.org/drawingml/2006/main">
              <a:ext uri="{FF2B5EF4-FFF2-40B4-BE49-F238E27FC236}">
                <a16:creationId xmlns:a16="http://schemas.microsoft.com/office/drawing/2014/main" id="{E275748E-6BCD-49DE-A00C-DD8F3F83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24150"/>
            <a:ext cx="2971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951-308">
            <a:extLst xmlns:a="http://schemas.openxmlformats.org/drawingml/2006/main">
              <a:ext uri="{FF2B5EF4-FFF2-40B4-BE49-F238E27FC236}">
                <a16:creationId xmlns:a16="http://schemas.microsoft.com/office/drawing/2014/main" id="{D968A64F-8D8E-404F-851F-DAF24FFF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933700"/>
            <a:ext cx="2514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job positions</a:t>
            </a:r>
          </a:p>
        </p:txBody>
      </p:sp>
      <p:sp>
        <p:nvSpPr>
          <p:cNvPr id="28" name="text-951-356">
            <a:extLst xmlns:a="http://schemas.openxmlformats.org/drawingml/2006/main">
              <a:ext uri="{FF2B5EF4-FFF2-40B4-BE49-F238E27FC236}">
                <a16:creationId xmlns:a16="http://schemas.microsoft.com/office/drawing/2014/main" id="{F2CD7610-6D89-46F8-B796-3AFF3131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90900"/>
            <a:ext cx="2514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cargo vigente + histórico</a:t>
            </a:r>
          </a:p>
        </p:txBody>
      </p:sp>
      <p:sp>
        <p:nvSpPr>
          <p:cNvPr id="29" name="shape-927-424">
            <a:extLst xmlns:a="http://schemas.openxmlformats.org/drawingml/2006/main">
              <a:ext uri="{FF2B5EF4-FFF2-40B4-BE49-F238E27FC236}">
                <a16:creationId xmlns:a16="http://schemas.microsoft.com/office/drawing/2014/main" id="{6CDC3074-B346-4BDB-ACB3-706EAEB0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038600"/>
            <a:ext cx="2971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951-446">
            <a:extLst xmlns:a="http://schemas.openxmlformats.org/drawingml/2006/main">
              <a:ext uri="{FF2B5EF4-FFF2-40B4-BE49-F238E27FC236}">
                <a16:creationId xmlns:a16="http://schemas.microsoft.com/office/drawing/2014/main" id="{1E7D8909-2A8C-4991-85E5-65AEDAA6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248150"/>
            <a:ext cx="2514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import batches</a:t>
            </a:r>
          </a:p>
        </p:txBody>
      </p:sp>
      <p:sp>
        <p:nvSpPr>
          <p:cNvPr id="31" name="text-951-494">
            <a:extLst xmlns:a="http://schemas.openxmlformats.org/drawingml/2006/main">
              <a:ext uri="{FF2B5EF4-FFF2-40B4-BE49-F238E27FC236}">
                <a16:creationId xmlns:a16="http://schemas.microsoft.com/office/drawing/2014/main" id="{ED959443-BC74-4D81-A817-840A501A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705350"/>
            <a:ext cx="2514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planilha + resultado por linha</a:t>
            </a:r>
          </a:p>
        </p:txBody>
      </p:sp>
    </p:spTree>
    <p:extLst>
      <p:ext uri="{BB962C8B-B14F-4D97-AF65-F5344CB8AC3E}">
        <p14:creationId xmlns:p14="http://schemas.microsoft.com/office/powerpoint/2010/main" val="7288418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AEDAD3C0-171A-44BC-A8CB-B2ADE1BE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Credenciais preparam a segurança; a API deverá concluí-la</a:t>
            </a:r>
          </a:p>
        </p:txBody>
      </p:sp>
      <p:cxnSp>
        <p:nvCxnSpPr>
          <p:cNvPr id="13" name="slide-10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10-source">
            <a:extLst xmlns:a="http://schemas.openxmlformats.org/drawingml/2006/main">
              <a:ext uri="{FF2B5EF4-FFF2-40B4-BE49-F238E27FC236}">
                <a16:creationId xmlns:a16="http://schemas.microsoft.com/office/drawing/2014/main" id="{324A2F8B-8857-4D0B-B004-0AAD0CAB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OWASP Password Storage Cheat Sheet • Fonte local: 002_users.sql</a:t>
            </a:r>
          </a:p>
        </p:txBody>
      </p:sp>
      <p:sp>
        <p:nvSpPr>
          <p:cNvPr id="4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B6D43821-67C1-4CA7-9099-D40651E1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shape-41-163">
            <a:extLst xmlns:a="http://schemas.openxmlformats.org/drawingml/2006/main">
              <a:ext uri="{FF2B5EF4-FFF2-40B4-BE49-F238E27FC236}">
                <a16:creationId xmlns:a16="http://schemas.microsoft.com/office/drawing/2014/main" id="{EA9BC9CC-289D-4780-BA64-EAB25C99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52575"/>
            <a:ext cx="5476875" cy="3324225"/>
          </a:xfrm>
          <a:prstGeom xmlns:a="http://schemas.openxmlformats.org/drawingml/2006/main" prst="roundRect">
            <a:avLst>
              <a:gd name="adj" fmla="val 229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5-185">
            <a:extLst xmlns:a="http://schemas.openxmlformats.org/drawingml/2006/main">
              <a:ext uri="{FF2B5EF4-FFF2-40B4-BE49-F238E27FC236}">
                <a16:creationId xmlns:a16="http://schemas.microsoft.com/office/drawing/2014/main" id="{9B0DE1CE-3722-49C0-8017-7184380C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banco já garante</a:t>
            </a:r>
          </a:p>
        </p:txBody>
      </p:sp>
      <p:sp>
        <p:nvSpPr>
          <p:cNvPr id="7" name="text-65-233">
            <a:extLst xmlns:a="http://schemas.openxmlformats.org/drawingml/2006/main">
              <a:ext uri="{FF2B5EF4-FFF2-40B4-BE49-F238E27FC236}">
                <a16:creationId xmlns:a16="http://schemas.microsoft.com/office/drawing/2014/main" id="{F74F3BC4-EC81-4885-8F50-13657C9F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19325"/>
            <a:ext cx="5019675" cy="2447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hash separado do perfil
• senha provisória exige troca
• expiração opcional
• tentativas falhas e bloqueio
• cascata ao excluir usuário</a:t>
            </a:r>
          </a:p>
        </p:txBody>
      </p:sp>
      <p:sp>
        <p:nvSpPr>
          <p:cNvPr id="8" name="shape-664-163">
            <a:extLst xmlns:a="http://schemas.openxmlformats.org/drawingml/2006/main">
              <a:ext uri="{FF2B5EF4-FFF2-40B4-BE49-F238E27FC236}">
                <a16:creationId xmlns:a16="http://schemas.microsoft.com/office/drawing/2014/main" id="{BEED0E1F-A767-4615-91F9-6E13015C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52575"/>
            <a:ext cx="5476875" cy="3324225"/>
          </a:xfrm>
          <a:prstGeom xmlns:a="http://schemas.openxmlformats.org/drawingml/2006/main" prst="roundRect">
            <a:avLst>
              <a:gd name="adj" fmla="val 2292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88-185">
            <a:extLst xmlns:a="http://schemas.openxmlformats.org/drawingml/2006/main">
              <a:ext uri="{FF2B5EF4-FFF2-40B4-BE49-F238E27FC236}">
                <a16:creationId xmlns:a16="http://schemas.microsoft.com/office/drawing/2014/main" id="{72A87761-0545-4CC0-B536-8E25A043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62125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backend deverá decidir</a:t>
            </a:r>
          </a:p>
        </p:txBody>
      </p:sp>
      <p:sp>
        <p:nvSpPr>
          <p:cNvPr id="10" name="text-688-233">
            <a:extLst xmlns:a="http://schemas.openxmlformats.org/drawingml/2006/main">
              <a:ext uri="{FF2B5EF4-FFF2-40B4-BE49-F238E27FC236}">
                <a16:creationId xmlns:a16="http://schemas.microsoft.com/office/drawing/2014/main" id="{35DE704A-9506-45E4-B5FB-161B0255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19325"/>
            <a:ext cx="5019675" cy="2447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Argon2id/scrypt/PBKDF2
• custo e salt
• política de redefinição
• autenticação e sessão
• autorização por caso de uso</a:t>
            </a:r>
          </a:p>
        </p:txBody>
      </p:sp>
      <p:sp>
        <p:nvSpPr>
          <p:cNvPr id="11" name="text-41-548">
            <a:extLst xmlns:a="http://schemas.openxmlformats.org/drawingml/2006/main">
              <a:ext uri="{FF2B5EF4-FFF2-40B4-BE49-F238E27FC236}">
                <a16:creationId xmlns:a16="http://schemas.microsoft.com/office/drawing/2014/main" id="{9F7779CC-6B53-438A-98C9-5B4C4948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11410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Nunca persistir senha provisória em texto puro — nem em log, seed ou planilha.</a:t>
            </a:r>
          </a:p>
        </p:txBody>
      </p:sp>
    </p:spTree>
    <p:extLst>
      <p:ext uri="{BB962C8B-B14F-4D97-AF65-F5344CB8AC3E}">
        <p14:creationId xmlns:p14="http://schemas.microsoft.com/office/powerpoint/2010/main" val="7949666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EA1FD00E-37D7-4349-BCB1-1B2BD2A3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28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Uma ideia pode morrer; uma Trilha criada precisa de histórico próprio</a:t>
            </a:r>
          </a:p>
        </p:txBody>
      </p:sp>
      <p:cxnSp>
        <p:nvCxnSpPr>
          <p:cNvPr id="20" name="slide-11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11-source">
            <a:extLst xmlns:a="http://schemas.openxmlformats.org/drawingml/2006/main">
              <a:ext uri="{FF2B5EF4-FFF2-40B4-BE49-F238E27FC236}">
                <a16:creationId xmlns:a16="http://schemas.microsoft.com/office/drawing/2014/main" id="{3982A397-0897-4F6A-8841-A4DBCFA9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Fonte: track_ideas, tracks e track_reuse_items</a:t>
            </a:r>
          </a:p>
        </p:txBody>
      </p:sp>
      <p:sp>
        <p:nvSpPr>
          <p:cNvPr id="4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0B8EE333-AF42-4D4D-A30D-40748D78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cxnSp>
        <p:nvCxnSpPr>
          <p:cNvPr id="23" name="connector-48-352"/>
          <p:cNvCxnSpPr/>
          <p:nvPr/>
        </p:nvCxnSpPr>
        <p:spPr>
          <a:xfrm xmlns:a="http://schemas.openxmlformats.org/drawingml/2006/main">
            <a:off x="457200" y="3352800"/>
            <a:ext cx="111252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shape-90-260">
            <a:extLst xmlns:a="http://schemas.openxmlformats.org/drawingml/2006/main">
              <a:ext uri="{FF2B5EF4-FFF2-40B4-BE49-F238E27FC236}">
                <a16:creationId xmlns:a16="http://schemas.microsoft.com/office/drawing/2014/main" id="{9C68AD8B-96B9-4EA7-A320-4902386B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520-260">
            <a:extLst xmlns:a="http://schemas.openxmlformats.org/drawingml/2006/main">
              <a:ext uri="{FF2B5EF4-FFF2-40B4-BE49-F238E27FC236}">
                <a16:creationId xmlns:a16="http://schemas.microsoft.com/office/drawing/2014/main" id="{F09A3A33-0310-489B-A15C-37FFB419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-950-260">
            <a:extLst xmlns:a="http://schemas.openxmlformats.org/drawingml/2006/main">
              <a:ext uri="{FF2B5EF4-FFF2-40B4-BE49-F238E27FC236}">
                <a16:creationId xmlns:a16="http://schemas.microsoft.com/office/drawing/2014/main" id="{1D57AA6C-125F-4889-9206-8DF332BA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99-198">
            <a:extLst xmlns:a="http://schemas.openxmlformats.org/drawingml/2006/main">
              <a:ext uri="{FF2B5EF4-FFF2-40B4-BE49-F238E27FC236}">
                <a16:creationId xmlns:a16="http://schemas.microsoft.com/office/drawing/2014/main" id="{13685E6D-F6A0-425F-839C-DF8F0308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8595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0" name="text-529-198">
            <a:extLst xmlns:a="http://schemas.openxmlformats.org/drawingml/2006/main">
              <a:ext uri="{FF2B5EF4-FFF2-40B4-BE49-F238E27FC236}">
                <a16:creationId xmlns:a16="http://schemas.microsoft.com/office/drawing/2014/main" id="{1E90E447-6F30-4EBC-A573-C4F6FC1D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88595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1" name="text-959-198">
            <a:extLst xmlns:a="http://schemas.openxmlformats.org/drawingml/2006/main">
              <a:ext uri="{FF2B5EF4-FFF2-40B4-BE49-F238E27FC236}">
                <a16:creationId xmlns:a16="http://schemas.microsoft.com/office/drawing/2014/main" id="{AC737CF8-3D9C-431B-988B-93567C7D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88595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2" name="text-120-288">
            <a:extLst xmlns:a="http://schemas.openxmlformats.org/drawingml/2006/main">
              <a:ext uri="{FF2B5EF4-FFF2-40B4-BE49-F238E27FC236}">
                <a16:creationId xmlns:a16="http://schemas.microsoft.com/office/drawing/2014/main" id="{F25D232F-8AB4-4D0E-B9DD-DF0B3194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17145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Ideia</a:t>
            </a:r>
          </a:p>
        </p:txBody>
      </p:sp>
      <p:sp>
        <p:nvSpPr>
          <p:cNvPr id="13" name="text-120-340">
            <a:extLst xmlns:a="http://schemas.openxmlformats.org/drawingml/2006/main">
              <a:ext uri="{FF2B5EF4-FFF2-40B4-BE49-F238E27FC236}">
                <a16:creationId xmlns:a16="http://schemas.microsoft.com/office/drawing/2014/main" id="{B7567157-4048-4FE6-A0C9-1A9248C2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7145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new → review → accepted/rejected</a:t>
            </a:r>
          </a:p>
        </p:txBody>
      </p:sp>
      <p:sp>
        <p:nvSpPr>
          <p:cNvPr id="14" name="text-550-288">
            <a:extLst xmlns:a="http://schemas.openxmlformats.org/drawingml/2006/main">
              <a:ext uri="{FF2B5EF4-FFF2-40B4-BE49-F238E27FC236}">
                <a16:creationId xmlns:a16="http://schemas.microsoft.com/office/drawing/2014/main" id="{1C105BDA-45E5-48CF-8A0B-FE8F49E7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7145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Decisão</a:t>
            </a:r>
          </a:p>
        </p:txBody>
      </p:sp>
      <p:sp>
        <p:nvSpPr>
          <p:cNvPr id="15" name="text-550-340">
            <a:extLst xmlns:a="http://schemas.openxmlformats.org/drawingml/2006/main">
              <a:ext uri="{FF2B5EF4-FFF2-40B4-BE49-F238E27FC236}">
                <a16:creationId xmlns:a16="http://schemas.microsoft.com/office/drawing/2014/main" id="{347F31EE-78E4-41F5-AAEC-2481491D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7145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7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área, categoria, modalidade e estimativas</a:t>
            </a:r>
          </a:p>
        </p:txBody>
      </p:sp>
      <p:sp>
        <p:nvSpPr>
          <p:cNvPr id="16" name="text-980-288">
            <a:extLst xmlns:a="http://schemas.openxmlformats.org/drawingml/2006/main">
              <a:ext uri="{FF2B5EF4-FFF2-40B4-BE49-F238E27FC236}">
                <a16:creationId xmlns:a16="http://schemas.microsoft.com/office/drawing/2014/main" id="{0722B338-FFCD-4793-ACCC-49C42875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43200"/>
            <a:ext cx="171450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Trilha</a:t>
            </a:r>
          </a:p>
        </p:txBody>
      </p:sp>
      <p:sp>
        <p:nvSpPr>
          <p:cNvPr id="17" name="text-980-340">
            <a:extLst xmlns:a="http://schemas.openxmlformats.org/drawingml/2006/main">
              <a:ext uri="{FF2B5EF4-FFF2-40B4-BE49-F238E27FC236}">
                <a16:creationId xmlns:a16="http://schemas.microsoft.com/office/drawing/2014/main" id="{E0ACCD63-DE87-4B44-8E6E-9C0EC21A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17145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1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execução única com equipe, tarefas e documentos</a:t>
            </a:r>
          </a:p>
        </p:txBody>
      </p:sp>
      <p:sp>
        <p:nvSpPr>
          <p:cNvPr id="18" name="text-41-500">
            <a:extLst xmlns:a="http://schemas.openxmlformats.org/drawingml/2006/main">
              <a:ext uri="{FF2B5EF4-FFF2-40B4-BE49-F238E27FC236}">
                <a16:creationId xmlns:a16="http://schemas.microsoft.com/office/drawing/2014/main" id="{279AEA3B-2780-4E56-89B1-C968C383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11410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Reabrir não reutiliza a mesma linha: cria nova Trilha com source_track_id e cópias seletivas registradas.</a:t>
            </a:r>
          </a:p>
        </p:txBody>
      </p:sp>
    </p:spTree>
    <p:extLst>
      <p:ext uri="{BB962C8B-B14F-4D97-AF65-F5344CB8AC3E}">
        <p14:creationId xmlns:p14="http://schemas.microsoft.com/office/powerpoint/2010/main" val="5201498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0D3A4EAD-5BF4-4AE3-9B89-23427B70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7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 cinco fases organizam o trabalho sem impor uma fila artificial</a:t>
            </a:r>
          </a:p>
        </p:txBody>
      </p:sp>
      <p:cxnSp>
        <p:nvCxnSpPr>
          <p:cNvPr id="18" name="slide-12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12-source">
            <a:extLst xmlns:a="http://schemas.openxmlformats.org/drawingml/2006/main">
              <a:ext uri="{FF2B5EF4-FFF2-40B4-BE49-F238E27FC236}">
                <a16:creationId xmlns:a16="http://schemas.microsoft.com/office/drawing/2014/main" id="{1B1D3602-4A05-4BE3-98AE-4E32E6EE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Fonte: workflow_template_tasks e track_tasks</a:t>
            </a:r>
          </a:p>
        </p:txBody>
      </p:sp>
      <p:sp>
        <p:nvSpPr>
          <p:cNvPr id="4" name="slide-12-number">
            <a:extLst xmlns:a="http://schemas.openxmlformats.org/drawingml/2006/main">
              <a:ext uri="{FF2B5EF4-FFF2-40B4-BE49-F238E27FC236}">
                <a16:creationId xmlns:a16="http://schemas.microsoft.com/office/drawing/2014/main" id="{7AC628C5-3DA4-49F7-95AF-E2C01FF5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graphicFrame>
        <p:nvGraphicFramePr>
          <p:cNvPr id="21" name="workflow-phase-header"/>
          <p:cNvGraphicFramePr/>
          <p:nvPr/>
        </p:nvGraphicFramePr>
        <p:xfrm>
          <a:off xmlns:a="http://schemas.openxmlformats.org/drawingml/2006/main" x="390525" y="1438275"/>
          <a:ext xmlns:a="http://schemas.openxmlformats.org/drawingml/2006/main" cx="114109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6475"/>
                <a:gridCol w="2276475"/>
                <a:gridCol w="2276475"/>
                <a:gridCol w="2276475"/>
                <a:gridCol w="2276475"/>
              </a:tblGrid>
              <a:tr h="4095750">
                <a:tc>
                  <a:txBody>
                    <a:bodyPr/>
                    <a:lstStyle/>
                    <a:p>
                      <a:r>
                        <a:t>Planejamento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Produção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Pré-trilha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Trilha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Pós-trilha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shape-56-228">
            <a:extLst xmlns:a="http://schemas.openxmlformats.org/drawingml/2006/main">
              <a:ext uri="{FF2B5EF4-FFF2-40B4-BE49-F238E27FC236}">
                <a16:creationId xmlns:a16="http://schemas.microsoft.com/office/drawing/2014/main" id="{DEA30335-C2EB-42EF-A51D-1E5B6A20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4000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72-240">
            <a:extLst xmlns:a="http://schemas.openxmlformats.org/drawingml/2006/main">
              <a:ext uri="{FF2B5EF4-FFF2-40B4-BE49-F238E27FC236}">
                <a16:creationId xmlns:a16="http://schemas.microsoft.com/office/drawing/2014/main" id="{FA080994-0DA8-4F8F-9DF4-EF296FFA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61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Documentos e ambiente</a:t>
            </a:r>
          </a:p>
        </p:txBody>
      </p:sp>
      <p:sp>
        <p:nvSpPr>
          <p:cNvPr id="8" name="shape-294-302">
            <a:extLst xmlns:a="http://schemas.openxmlformats.org/drawingml/2006/main">
              <a:ext uri="{FF2B5EF4-FFF2-40B4-BE49-F238E27FC236}">
                <a16:creationId xmlns:a16="http://schemas.microsoft.com/office/drawing/2014/main" id="{E3E987C7-1739-4BF5-AB07-1BD99887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4810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310-314">
            <a:extLst xmlns:a="http://schemas.openxmlformats.org/drawingml/2006/main">
              <a:ext uri="{FF2B5EF4-FFF2-40B4-BE49-F238E27FC236}">
                <a16:creationId xmlns:a16="http://schemas.microsoft.com/office/drawing/2014/main" id="{56E3B713-EBCC-438F-B68C-BD6A9FD9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90850"/>
            <a:ext cx="4429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Produção e validações</a:t>
            </a:r>
          </a:p>
        </p:txBody>
      </p:sp>
      <p:sp>
        <p:nvSpPr>
          <p:cNvPr id="10" name="shape-536-376">
            <a:extLst xmlns:a="http://schemas.openxmlformats.org/drawingml/2006/main">
              <a:ext uri="{FF2B5EF4-FFF2-40B4-BE49-F238E27FC236}">
                <a16:creationId xmlns:a16="http://schemas.microsoft.com/office/drawing/2014/main" id="{87905CAC-D660-4B06-8D15-6D094D01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81400"/>
            <a:ext cx="4048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552-388">
            <a:extLst xmlns:a="http://schemas.openxmlformats.org/drawingml/2006/main">
              <a:ext uri="{FF2B5EF4-FFF2-40B4-BE49-F238E27FC236}">
                <a16:creationId xmlns:a16="http://schemas.microsoft.com/office/drawing/2014/main" id="{F696E6E5-6BC8-472D-B5EC-A9002441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95700"/>
            <a:ext cx="3667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Divulgação e Teams</a:t>
            </a:r>
          </a:p>
        </p:txBody>
      </p:sp>
      <p:sp>
        <p:nvSpPr>
          <p:cNvPr id="12" name="shape-774-450">
            <a:extLst xmlns:a="http://schemas.openxmlformats.org/drawingml/2006/main">
              <a:ext uri="{FF2B5EF4-FFF2-40B4-BE49-F238E27FC236}">
                <a16:creationId xmlns:a16="http://schemas.microsoft.com/office/drawing/2014/main" id="{CF1F1311-3BD7-4563-95AC-0F7E5E1B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86250"/>
            <a:ext cx="2571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790-462">
            <a:extLst xmlns:a="http://schemas.openxmlformats.org/drawingml/2006/main">
              <a:ext uri="{FF2B5EF4-FFF2-40B4-BE49-F238E27FC236}">
                <a16:creationId xmlns:a16="http://schemas.microsoft.com/office/drawing/2014/main" id="{2C843978-86DF-4B6D-A01B-94720CA0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005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Aulas e acompanhamento</a:t>
            </a:r>
          </a:p>
        </p:txBody>
      </p:sp>
      <p:sp>
        <p:nvSpPr>
          <p:cNvPr id="14" name="shape-986-524">
            <a:extLst xmlns:a="http://schemas.openxmlformats.org/drawingml/2006/main">
              <a:ext uri="{FF2B5EF4-FFF2-40B4-BE49-F238E27FC236}">
                <a16:creationId xmlns:a16="http://schemas.microsoft.com/office/drawing/2014/main" id="{E6E2DFC7-E73A-4DD1-8F40-B1AB4141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91100"/>
            <a:ext cx="22383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002-536">
            <a:extLst xmlns:a="http://schemas.openxmlformats.org/drawingml/2006/main">
              <a:ext uri="{FF2B5EF4-FFF2-40B4-BE49-F238E27FC236}">
                <a16:creationId xmlns:a16="http://schemas.microsoft.com/office/drawing/2014/main" id="{06D73E5A-0A95-4F88-89CA-72AE3041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05400"/>
            <a:ext cx="18573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Fechamento</a:t>
            </a:r>
          </a:p>
        </p:txBody>
      </p:sp>
      <p:sp>
        <p:nvSpPr>
          <p:cNvPr id="16" name="text-41-600">
            <a:extLst xmlns:a="http://schemas.openxmlformats.org/drawingml/2006/main">
              <a:ext uri="{FF2B5EF4-FFF2-40B4-BE49-F238E27FC236}">
                <a16:creationId xmlns:a16="http://schemas.microsoft.com/office/drawing/2014/main" id="{9CFDECA5-17D2-4303-BDC8-D562B063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15000"/>
            <a:ext cx="1047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Tarefas de fases diferentes podem coexistir; status da Trilha serve para visão geral.</a:t>
            </a:r>
          </a:p>
        </p:txBody>
      </p:sp>
    </p:spTree>
    <p:extLst>
      <p:ext uri="{BB962C8B-B14F-4D97-AF65-F5344CB8AC3E}">
        <p14:creationId xmlns:p14="http://schemas.microsoft.com/office/powerpoint/2010/main" val="18483260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725DE1DE-AC15-4B39-9CD5-75B7C4A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seed converte o processo em um checklist ajustável</a:t>
            </a:r>
          </a:p>
        </p:txBody>
      </p:sp>
      <p:cxnSp>
        <p:nvCxnSpPr>
          <p:cNvPr id="19" name="slide-13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13-source">
            <a:extLst xmlns:a="http://schemas.openxmlformats.org/drawingml/2006/main">
              <a:ext uri="{FF2B5EF4-FFF2-40B4-BE49-F238E27FC236}">
                <a16:creationId xmlns:a16="http://schemas.microsoft.com/office/drawing/2014/main" id="{2E9D91A2-59AC-44D3-AC66-D68F3ADD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Fonte: 001_reference_data.sql</a:t>
            </a:r>
          </a:p>
        </p:txBody>
      </p:sp>
      <p:sp>
        <p:nvSpPr>
          <p:cNvPr id="4" name="slide-13-number">
            <a:extLst xmlns:a="http://schemas.openxmlformats.org/drawingml/2006/main">
              <a:ext uri="{FF2B5EF4-FFF2-40B4-BE49-F238E27FC236}">
                <a16:creationId xmlns:a16="http://schemas.microsoft.com/office/drawing/2014/main" id="{13C70DF0-C356-4BE6-B8C7-80865D88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5" name="text-41-126">
            <a:extLst xmlns:a="http://schemas.openxmlformats.org/drawingml/2006/main">
              <a:ext uri="{FF2B5EF4-FFF2-40B4-BE49-F238E27FC236}">
                <a16:creationId xmlns:a16="http://schemas.microsoft.com/office/drawing/2014/main" id="{B14897F3-A9DD-42B5-AAAF-1B721624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workflow padrão é clonado ao criar cada Trilha; depois, suas tarefas evoluem de forma independente.</a:t>
            </a:r>
          </a:p>
        </p:txBody>
      </p:sp>
      <p:sp>
        <p:nvSpPr>
          <p:cNvPr id="6" name="shape-41-316">
            <a:extLst xmlns:a="http://schemas.openxmlformats.org/drawingml/2006/main">
              <a:ext uri="{FF2B5EF4-FFF2-40B4-BE49-F238E27FC236}">
                <a16:creationId xmlns:a16="http://schemas.microsoft.com/office/drawing/2014/main" id="{F5ED5D13-A095-45BF-805C-A8F90B6D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09900"/>
            <a:ext cx="35623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71-355">
            <a:extLst xmlns:a="http://schemas.openxmlformats.org/drawingml/2006/main">
              <a:ext uri="{FF2B5EF4-FFF2-40B4-BE49-F238E27FC236}">
                <a16:creationId xmlns:a16="http://schemas.microsoft.com/office/drawing/2014/main" id="{BD5C5CFB-64BB-4611-B9B6-31B0C845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81375"/>
            <a:ext cx="29908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26</a:t>
            </a:r>
          </a:p>
        </p:txBody>
      </p:sp>
      <p:sp>
        <p:nvSpPr>
          <p:cNvPr id="8" name="text-71-479">
            <a:extLst xmlns:a="http://schemas.openxmlformats.org/drawingml/2006/main">
              <a:ext uri="{FF2B5EF4-FFF2-40B4-BE49-F238E27FC236}">
                <a16:creationId xmlns:a16="http://schemas.microsoft.com/office/drawing/2014/main" id="{92A87DC1-043E-4361-9622-A1CABF11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62475"/>
            <a:ext cx="2990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tarefas padrão</a:t>
            </a:r>
          </a:p>
        </p:txBody>
      </p:sp>
      <p:sp>
        <p:nvSpPr>
          <p:cNvPr id="9" name="text-71-530">
            <a:extLst xmlns:a="http://schemas.openxmlformats.org/drawingml/2006/main">
              <a:ext uri="{FF2B5EF4-FFF2-40B4-BE49-F238E27FC236}">
                <a16:creationId xmlns:a16="http://schemas.microsoft.com/office/drawing/2014/main" id="{73DB9035-1794-4E14-8947-888F79D3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48250"/>
            <a:ext cx="2990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Do e-mail de início ao envio de certificados.</a:t>
            </a:r>
          </a:p>
        </p:txBody>
      </p:sp>
      <p:sp>
        <p:nvSpPr>
          <p:cNvPr id="10" name="shape-453-316">
            <a:extLst xmlns:a="http://schemas.openxmlformats.org/drawingml/2006/main">
              <a:ext uri="{FF2B5EF4-FFF2-40B4-BE49-F238E27FC236}">
                <a16:creationId xmlns:a16="http://schemas.microsoft.com/office/drawing/2014/main" id="{D70D6170-AB36-4CD5-B46E-518B0640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9900"/>
            <a:ext cx="35623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483-355">
            <a:extLst xmlns:a="http://schemas.openxmlformats.org/drawingml/2006/main">
              <a:ext uri="{FF2B5EF4-FFF2-40B4-BE49-F238E27FC236}">
                <a16:creationId xmlns:a16="http://schemas.microsoft.com/office/drawing/2014/main" id="{98268A33-2A1F-459F-9699-DD664AB6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81375"/>
            <a:ext cx="29908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12" name="text-483-479">
            <a:extLst xmlns:a="http://schemas.openxmlformats.org/drawingml/2006/main">
              <a:ext uri="{FF2B5EF4-FFF2-40B4-BE49-F238E27FC236}">
                <a16:creationId xmlns:a16="http://schemas.microsoft.com/office/drawing/2014/main" id="{1C6A24CC-6F32-4282-B07B-73500F6D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62475"/>
            <a:ext cx="2990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fases</a:t>
            </a:r>
          </a:p>
        </p:txBody>
      </p:sp>
      <p:sp>
        <p:nvSpPr>
          <p:cNvPr id="13" name="text-483-530">
            <a:extLst xmlns:a="http://schemas.openxmlformats.org/drawingml/2006/main">
              <a:ext uri="{FF2B5EF4-FFF2-40B4-BE49-F238E27FC236}">
                <a16:creationId xmlns:a16="http://schemas.microsoft.com/office/drawing/2014/main" id="{0152ED9B-59D9-45BE-A6FB-9F1D6D13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048250"/>
            <a:ext cx="2990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Planning, production, pre_track, track e post_track.</a:t>
            </a:r>
          </a:p>
        </p:txBody>
      </p:sp>
      <p:sp>
        <p:nvSpPr>
          <p:cNvPr id="14" name="shape-865-316">
            <a:extLst xmlns:a="http://schemas.openxmlformats.org/drawingml/2006/main">
              <a:ext uri="{FF2B5EF4-FFF2-40B4-BE49-F238E27FC236}">
                <a16:creationId xmlns:a16="http://schemas.microsoft.com/office/drawing/2014/main" id="{2F8FF812-B790-4167-84E5-E04DEF12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09900"/>
            <a:ext cx="35623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895-355">
            <a:extLst xmlns:a="http://schemas.openxmlformats.org/drawingml/2006/main">
              <a:ext uri="{FF2B5EF4-FFF2-40B4-BE49-F238E27FC236}">
                <a16:creationId xmlns:a16="http://schemas.microsoft.com/office/drawing/2014/main" id="{E9F45B99-7F73-420A-AB6F-57DE8A1F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81375"/>
            <a:ext cx="29908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6" name="text-895-479">
            <a:extLst xmlns:a="http://schemas.openxmlformats.org/drawingml/2006/main">
              <a:ext uri="{FF2B5EF4-FFF2-40B4-BE49-F238E27FC236}">
                <a16:creationId xmlns:a16="http://schemas.microsoft.com/office/drawing/2014/main" id="{5B90C565-1DC6-4486-BD09-9CA8580A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62475"/>
            <a:ext cx="2990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template ativo</a:t>
            </a:r>
          </a:p>
        </p:txBody>
      </p:sp>
      <p:sp>
        <p:nvSpPr>
          <p:cNvPr id="17" name="text-895-530">
            <a:extLst xmlns:a="http://schemas.openxmlformats.org/drawingml/2006/main">
              <a:ext uri="{FF2B5EF4-FFF2-40B4-BE49-F238E27FC236}">
                <a16:creationId xmlns:a16="http://schemas.microsoft.com/office/drawing/2014/main" id="{2A19AC19-88F1-48F3-81ED-F969322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48250"/>
            <a:ext cx="2990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Versão inicial que pode ganhar novas versões futuras.</a:t>
            </a:r>
          </a:p>
        </p:txBody>
      </p:sp>
    </p:spTree>
    <p:extLst>
      <p:ext uri="{BB962C8B-B14F-4D97-AF65-F5344CB8AC3E}">
        <p14:creationId xmlns:p14="http://schemas.microsoft.com/office/powerpoint/2010/main" val="16178217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B220CAA4-7816-4CDA-A703-7D029B6C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94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Modalidade define regras que atravessam calendário e currículo</a:t>
            </a:r>
          </a:p>
        </p:txBody>
      </p:sp>
      <p:cxnSp>
        <p:nvCxnSpPr>
          <p:cNvPr id="18" name="slide-14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14-source">
            <a:extLst xmlns:a="http://schemas.openxmlformats.org/drawingml/2006/main">
              <a:ext uri="{FF2B5EF4-FFF2-40B4-BE49-F238E27FC236}">
                <a16:creationId xmlns:a16="http://schemas.microsoft.com/office/drawing/2014/main" id="{A3F6B788-AF9E-4AD4-B20A-CABD6334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• Fonte: 003_tracks.sql | calendário e currículo</a:t>
            </a:r>
          </a:p>
        </p:txBody>
      </p:sp>
      <p:sp>
        <p:nvSpPr>
          <p:cNvPr id="4" name="slide-14-number">
            <a:extLst xmlns:a="http://schemas.openxmlformats.org/drawingml/2006/main">
              <a:ext uri="{FF2B5EF4-FFF2-40B4-BE49-F238E27FC236}">
                <a16:creationId xmlns:a16="http://schemas.microsoft.com/office/drawing/2014/main" id="{BD109E75-B74C-4B81-A3A6-273BF47E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5" name="shape-41-151">
            <a:extLst xmlns:a="http://schemas.openxmlformats.org/drawingml/2006/main">
              <a:ext uri="{FF2B5EF4-FFF2-40B4-BE49-F238E27FC236}">
                <a16:creationId xmlns:a16="http://schemas.microsoft.com/office/drawing/2014/main" id="{F4DBF0A4-99CB-476B-982B-DC7144BE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5476875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5-173">
            <a:extLst xmlns:a="http://schemas.openxmlformats.org/drawingml/2006/main">
              <a:ext uri="{FF2B5EF4-FFF2-40B4-BE49-F238E27FC236}">
                <a16:creationId xmlns:a16="http://schemas.microsoft.com/office/drawing/2014/main" id="{58AF8887-ACD2-43FA-AA98-B3045320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47825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ONLINE</a:t>
            </a:r>
          </a:p>
        </p:txBody>
      </p:sp>
      <p:sp>
        <p:nvSpPr>
          <p:cNvPr id="7" name="text-65-221">
            <a:extLst xmlns:a="http://schemas.openxmlformats.org/drawingml/2006/main">
              <a:ext uri="{FF2B5EF4-FFF2-40B4-BE49-F238E27FC236}">
                <a16:creationId xmlns:a16="http://schemas.microsoft.com/office/drawing/2014/main" id="{585459A6-23F1-44F8-99B2-6AA6186D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5019675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Carga presencial = 0
Unidades somente online_async
Nenhuma aula síncrona para aluno</a:t>
            </a:r>
          </a:p>
        </p:txBody>
      </p:sp>
      <p:sp>
        <p:nvSpPr>
          <p:cNvPr id="8" name="shape-664-151">
            <a:extLst xmlns:a="http://schemas.openxmlformats.org/drawingml/2006/main">
              <a:ext uri="{FF2B5EF4-FFF2-40B4-BE49-F238E27FC236}">
                <a16:creationId xmlns:a16="http://schemas.microsoft.com/office/drawing/2014/main" id="{DD4C518B-BB56-46D9-A907-D2189642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476875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88-173">
            <a:extLst xmlns:a="http://schemas.openxmlformats.org/drawingml/2006/main">
              <a:ext uri="{FF2B5EF4-FFF2-40B4-BE49-F238E27FC236}">
                <a16:creationId xmlns:a16="http://schemas.microsoft.com/office/drawing/2014/main" id="{2779862F-F105-46C0-8FEB-DBAF4F01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47825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HYBRID</a:t>
            </a:r>
          </a:p>
        </p:txBody>
      </p:sp>
      <p:sp>
        <p:nvSpPr>
          <p:cNvPr id="10" name="text-688-221">
            <a:extLst xmlns:a="http://schemas.openxmlformats.org/drawingml/2006/main">
              <a:ext uri="{FF2B5EF4-FFF2-40B4-BE49-F238E27FC236}">
                <a16:creationId xmlns:a16="http://schemas.microsoft.com/office/drawing/2014/main" id="{7A2485AB-F4B1-40DE-9AD0-419ED7AF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05025"/>
            <a:ext cx="5019675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Carga online &gt; 0 e presencial &gt; 0
Evento hybrid_class exige sala e capacidade
Unidade presencial aponta para evento da mesma Trilha</a:t>
            </a:r>
          </a:p>
        </p:txBody>
      </p:sp>
      <p:cxnSp>
        <p:nvCxnSpPr>
          <p:cNvPr id="27" name="connector-94-495"/>
          <p:cNvCxnSpPr/>
          <p:nvPr/>
        </p:nvCxnSpPr>
        <p:spPr>
          <a:xfrm xmlns:a="http://schemas.openxmlformats.org/drawingml/2006/main">
            <a:off x="895350" y="4714875"/>
            <a:ext cx="93535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12" name="text-41-456">
            <a:extLst xmlns:a="http://schemas.openxmlformats.org/drawingml/2006/main">
              <a:ext uri="{FF2B5EF4-FFF2-40B4-BE49-F238E27FC236}">
                <a16:creationId xmlns:a16="http://schemas.microsoft.com/office/drawing/2014/main" id="{3D29DE04-BDE0-4F19-84A5-C4667B8A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43400"/>
            <a:ext cx="161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Trilha</a:t>
            </a:r>
          </a:p>
        </p:txBody>
      </p:sp>
      <p:sp>
        <p:nvSpPr>
          <p:cNvPr id="13" name="text-306-456">
            <a:extLst xmlns:a="http://schemas.openxmlformats.org/drawingml/2006/main">
              <a:ext uri="{FF2B5EF4-FFF2-40B4-BE49-F238E27FC236}">
                <a16:creationId xmlns:a16="http://schemas.microsoft.com/office/drawing/2014/main" id="{5B34073F-F264-43D0-80A2-11E27DC7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43400"/>
            <a:ext cx="161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Módulos</a:t>
            </a:r>
          </a:p>
        </p:txBody>
      </p:sp>
      <p:sp>
        <p:nvSpPr>
          <p:cNvPr id="14" name="text-575-456">
            <a:extLst xmlns:a="http://schemas.openxmlformats.org/drawingml/2006/main">
              <a:ext uri="{FF2B5EF4-FFF2-40B4-BE49-F238E27FC236}">
                <a16:creationId xmlns:a16="http://schemas.microsoft.com/office/drawing/2014/main" id="{846B74EE-FC56-4903-AEF1-1C42C028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43400"/>
            <a:ext cx="161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Unidades</a:t>
            </a:r>
          </a:p>
        </p:txBody>
      </p:sp>
      <p:sp>
        <p:nvSpPr>
          <p:cNvPr id="15" name="text-844-456">
            <a:extLst xmlns:a="http://schemas.openxmlformats.org/drawingml/2006/main">
              <a:ext uri="{FF2B5EF4-FFF2-40B4-BE49-F238E27FC236}">
                <a16:creationId xmlns:a16="http://schemas.microsoft.com/office/drawing/2014/main" id="{635C3F8B-06AA-41FC-9200-AC5CAD1A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43400"/>
            <a:ext cx="2476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Evento presencial</a:t>
            </a:r>
          </a:p>
        </p:txBody>
      </p:sp>
      <p:sp>
        <p:nvSpPr>
          <p:cNvPr id="16" name="text-305-530">
            <a:extLst xmlns:a="http://schemas.openxmlformats.org/drawingml/2006/main">
              <a:ext uri="{FF2B5EF4-FFF2-40B4-BE49-F238E27FC236}">
                <a16:creationId xmlns:a16="http://schemas.microsoft.com/office/drawing/2014/main" id="{9682938E-0950-439E-B892-6C12505A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48250"/>
            <a:ext cx="647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tema • conteúdo • objetivos • avaliação • recursos • carga</a:t>
            </a:r>
          </a:p>
        </p:txBody>
      </p:sp>
    </p:spTree>
    <p:extLst>
      <p:ext uri="{BB962C8B-B14F-4D97-AF65-F5344CB8AC3E}">
        <p14:creationId xmlns:p14="http://schemas.microsoft.com/office/powerpoint/2010/main" val="8612995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8351FDCC-55DD-4DF1-B305-45354F47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08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Modelos versionados deixam formulários evoluir sem reescrever o passado</a:t>
            </a:r>
          </a:p>
        </p:txBody>
      </p:sp>
      <p:cxnSp>
        <p:nvCxnSpPr>
          <p:cNvPr id="22" name="slide-15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15-source">
            <a:extLst xmlns:a="http://schemas.openxmlformats.org/drawingml/2006/main">
              <a:ext uri="{FF2B5EF4-FFF2-40B4-BE49-F238E27FC236}">
                <a16:creationId xmlns:a16="http://schemas.microsoft.com/office/drawing/2014/main" id="{4618E7FC-2550-47C7-A4DC-C6653099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Fonte: 004_documents_notifications.sql e seed 002_document_templates.sql</a:t>
            </a:r>
          </a:p>
        </p:txBody>
      </p:sp>
      <p:sp>
        <p:nvSpPr>
          <p:cNvPr id="4" name="slide-15-number">
            <a:extLst xmlns:a="http://schemas.openxmlformats.org/drawingml/2006/main">
              <a:ext uri="{FF2B5EF4-FFF2-40B4-BE49-F238E27FC236}">
                <a16:creationId xmlns:a16="http://schemas.microsoft.com/office/drawing/2014/main" id="{623443C9-13E0-426A-96BE-950E86DC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cxnSp>
        <p:nvCxnSpPr>
          <p:cNvPr id="25" name="connector-190-336"/>
          <p:cNvCxnSpPr/>
          <p:nvPr/>
        </p:nvCxnSpPr>
        <p:spPr>
          <a:xfrm xmlns:a="http://schemas.openxmlformats.org/drawingml/2006/main">
            <a:off x="1809750" y="3200400"/>
            <a:ext cx="1838325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26" name="connector-461-336"/>
          <p:cNvCxnSpPr/>
          <p:nvPr/>
        </p:nvCxnSpPr>
        <p:spPr>
          <a:xfrm xmlns:a="http://schemas.openxmlformats.org/drawingml/2006/main">
            <a:off x="4391025" y="3200400"/>
            <a:ext cx="1838325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27" name="connector-732-336"/>
          <p:cNvCxnSpPr/>
          <p:nvPr/>
        </p:nvCxnSpPr>
        <p:spPr>
          <a:xfrm xmlns:a="http://schemas.openxmlformats.org/drawingml/2006/main">
            <a:off x="6972300" y="3200400"/>
            <a:ext cx="1838325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8" name="shape-41-246">
            <a:extLst xmlns:a="http://schemas.openxmlformats.org/drawingml/2006/main">
              <a:ext uri="{FF2B5EF4-FFF2-40B4-BE49-F238E27FC236}">
                <a16:creationId xmlns:a16="http://schemas.microsoft.com/office/drawing/2014/main" id="{3905C102-8CB8-447A-BA1F-5583C1F9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43150"/>
            <a:ext cx="2190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5-268">
            <a:extLst xmlns:a="http://schemas.openxmlformats.org/drawingml/2006/main">
              <a:ext uri="{FF2B5EF4-FFF2-40B4-BE49-F238E27FC236}">
                <a16:creationId xmlns:a16="http://schemas.microsoft.com/office/drawing/2014/main" id="{0E70EB16-30CB-4DC0-9095-1D11C4DA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52700"/>
            <a:ext cx="1733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Template</a:t>
            </a:r>
          </a:p>
        </p:txBody>
      </p:sp>
      <p:sp>
        <p:nvSpPr>
          <p:cNvPr id="10" name="text-65-316">
            <a:extLst xmlns:a="http://schemas.openxmlformats.org/drawingml/2006/main">
              <a:ext uri="{FF2B5EF4-FFF2-40B4-BE49-F238E27FC236}">
                <a16:creationId xmlns:a16="http://schemas.microsoft.com/office/drawing/2014/main" id="{9BD60606-1D2B-46F0-9BD6-EB7AB015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17335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proposal_scope
teaching_plan</a:t>
            </a:r>
          </a:p>
        </p:txBody>
      </p:sp>
      <p:sp>
        <p:nvSpPr>
          <p:cNvPr id="11" name="shape-312-246">
            <a:extLst xmlns:a="http://schemas.openxmlformats.org/drawingml/2006/main">
              <a:ext uri="{FF2B5EF4-FFF2-40B4-BE49-F238E27FC236}">
                <a16:creationId xmlns:a16="http://schemas.microsoft.com/office/drawing/2014/main" id="{AC0B2629-7676-4832-9C47-441EDA45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43150"/>
            <a:ext cx="2190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36-268">
            <a:extLst xmlns:a="http://schemas.openxmlformats.org/drawingml/2006/main">
              <a:ext uri="{FF2B5EF4-FFF2-40B4-BE49-F238E27FC236}">
                <a16:creationId xmlns:a16="http://schemas.microsoft.com/office/drawing/2014/main" id="{761D52D0-B028-4D5E-8F22-4B2DC85B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52700"/>
            <a:ext cx="1733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Versão</a:t>
            </a:r>
          </a:p>
        </p:txBody>
      </p:sp>
      <p:sp>
        <p:nvSpPr>
          <p:cNvPr id="13" name="text-336-316">
            <a:extLst xmlns:a="http://schemas.openxmlformats.org/drawingml/2006/main">
              <a:ext uri="{FF2B5EF4-FFF2-40B4-BE49-F238E27FC236}">
                <a16:creationId xmlns:a16="http://schemas.microsoft.com/office/drawing/2014/main" id="{E36EDFCE-B198-4390-AE82-80D1DD1F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09900"/>
            <a:ext cx="17335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schema_definition
publicada e imutável</a:t>
            </a:r>
          </a:p>
        </p:txBody>
      </p:sp>
      <p:sp>
        <p:nvSpPr>
          <p:cNvPr id="14" name="shape-583-246">
            <a:extLst xmlns:a="http://schemas.openxmlformats.org/drawingml/2006/main">
              <a:ext uri="{FF2B5EF4-FFF2-40B4-BE49-F238E27FC236}">
                <a16:creationId xmlns:a16="http://schemas.microsoft.com/office/drawing/2014/main" id="{B71835D2-98C2-4ADA-91EE-1D5EE7A2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343150"/>
            <a:ext cx="2190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07-268">
            <a:extLst xmlns:a="http://schemas.openxmlformats.org/drawingml/2006/main">
              <a:ext uri="{FF2B5EF4-FFF2-40B4-BE49-F238E27FC236}">
                <a16:creationId xmlns:a16="http://schemas.microsoft.com/office/drawing/2014/main" id="{38858637-826D-411D-8696-88AABAC7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52700"/>
            <a:ext cx="1733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Documento</a:t>
            </a:r>
          </a:p>
        </p:txBody>
      </p:sp>
      <p:sp>
        <p:nvSpPr>
          <p:cNvPr id="16" name="text-607-316">
            <a:extLst xmlns:a="http://schemas.openxmlformats.org/drawingml/2006/main">
              <a:ext uri="{FF2B5EF4-FFF2-40B4-BE49-F238E27FC236}">
                <a16:creationId xmlns:a16="http://schemas.microsoft.com/office/drawing/2014/main" id="{E368A4F0-F54D-42E8-9D6E-044D2B06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09900"/>
            <a:ext cx="17335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Trilha + versão fixa
current_content</a:t>
            </a:r>
          </a:p>
        </p:txBody>
      </p:sp>
      <p:sp>
        <p:nvSpPr>
          <p:cNvPr id="17" name="shape-854-246">
            <a:extLst xmlns:a="http://schemas.openxmlformats.org/drawingml/2006/main">
              <a:ext uri="{FF2B5EF4-FFF2-40B4-BE49-F238E27FC236}">
                <a16:creationId xmlns:a16="http://schemas.microsoft.com/office/drawing/2014/main" id="{EBC9A982-0CD9-4AB0-9922-AB043578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32766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878-268">
            <a:extLst xmlns:a="http://schemas.openxmlformats.org/drawingml/2006/main">
              <a:ext uri="{FF2B5EF4-FFF2-40B4-BE49-F238E27FC236}">
                <a16:creationId xmlns:a16="http://schemas.microsoft.com/office/drawing/2014/main" id="{C65E9A42-C4D8-4B98-9C08-F1E20917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52700"/>
            <a:ext cx="2819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Histórico</a:t>
            </a:r>
          </a:p>
        </p:txBody>
      </p:sp>
      <p:sp>
        <p:nvSpPr>
          <p:cNvPr id="19" name="text-878-316">
            <a:extLst xmlns:a="http://schemas.openxmlformats.org/drawingml/2006/main">
              <a:ext uri="{FF2B5EF4-FFF2-40B4-BE49-F238E27FC236}">
                <a16:creationId xmlns:a16="http://schemas.microsoft.com/office/drawing/2014/main" id="{38575729-6A8E-403A-BFEB-D985DB15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2819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revisions → changes → reviews
arquivos externos referenciados</a:t>
            </a:r>
          </a:p>
        </p:txBody>
      </p:sp>
      <p:sp>
        <p:nvSpPr>
          <p:cNvPr id="20" name="text-41-491">
            <a:extLst xmlns:a="http://schemas.openxmlformats.org/drawingml/2006/main">
              <a:ext uri="{FF2B5EF4-FFF2-40B4-BE49-F238E27FC236}">
                <a16:creationId xmlns:a16="http://schemas.microsoft.com/office/drawing/2014/main" id="{881D7019-00A3-433B-BEF8-5B0E9A9A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76775"/>
            <a:ext cx="11410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Nova versão vale para novas Trilhas. Documento existente mantém o template_version_id original.</a:t>
            </a:r>
          </a:p>
        </p:txBody>
      </p:sp>
    </p:spTree>
    <p:extLst>
      <p:ext uri="{BB962C8B-B14F-4D97-AF65-F5344CB8AC3E}">
        <p14:creationId xmlns:p14="http://schemas.microsoft.com/office/powerpoint/2010/main" val="20045955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213F9B87-C0CF-4DD4-A9ED-A0F90142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Diferenças preservam autoria sem duplicar o documento</a:t>
            </a:r>
          </a:p>
        </p:txBody>
      </p:sp>
      <p:cxnSp>
        <p:nvCxnSpPr>
          <p:cNvPr id="16" name="slide-16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16-source">
            <a:extLst xmlns:a="http://schemas.openxmlformats.org/drawingml/2006/main">
              <a:ext uri="{FF2B5EF4-FFF2-40B4-BE49-F238E27FC236}">
                <a16:creationId xmlns:a16="http://schemas.microsoft.com/office/drawing/2014/main" id="{E43A2620-8756-4E44-839E-953E5C1C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 JSONB Functions and Operators • Fonte local: apply_document_change</a:t>
            </a:r>
          </a:p>
        </p:txBody>
      </p:sp>
      <p:sp>
        <p:nvSpPr>
          <p:cNvPr id="4" name="slide-16-number">
            <a:extLst xmlns:a="http://schemas.openxmlformats.org/drawingml/2006/main">
              <a:ext uri="{FF2B5EF4-FFF2-40B4-BE49-F238E27FC236}">
                <a16:creationId xmlns:a16="http://schemas.microsoft.com/office/drawing/2014/main" id="{764AB125-6EF8-44D1-AE3F-545A58F3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5" name="shape-41-151">
            <a:extLst xmlns:a="http://schemas.openxmlformats.org/drawingml/2006/main">
              <a:ext uri="{FF2B5EF4-FFF2-40B4-BE49-F238E27FC236}">
                <a16:creationId xmlns:a16="http://schemas.microsoft.com/office/drawing/2014/main" id="{214ED0FB-1B8E-4417-B2E6-73A44377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5-173">
            <a:extLst xmlns:a="http://schemas.openxmlformats.org/drawingml/2006/main">
              <a:ext uri="{FF2B5EF4-FFF2-40B4-BE49-F238E27FC236}">
                <a16:creationId xmlns:a16="http://schemas.microsoft.com/office/drawing/2014/main" id="{D8E5875E-A3AE-4C56-BD97-79D27A58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47825"/>
            <a:ext cx="30194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Conteúdo atual</a:t>
            </a:r>
          </a:p>
        </p:txBody>
      </p:sp>
      <p:sp>
        <p:nvSpPr>
          <p:cNvPr id="7" name="text-65-221">
            <a:extLst xmlns:a="http://schemas.openxmlformats.org/drawingml/2006/main">
              <a:ext uri="{FF2B5EF4-FFF2-40B4-BE49-F238E27FC236}">
                <a16:creationId xmlns:a16="http://schemas.microsoft.com/office/drawing/2014/main" id="{9C0CC0BF-7CA9-4EED-BE6D-1FD40048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3019425" cy="2600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current_content
Leitura rápida do estado vigente. Atualizado a cada mudança válida.</a:t>
            </a:r>
          </a:p>
        </p:txBody>
      </p:sp>
      <p:sp>
        <p:nvSpPr>
          <p:cNvPr id="8" name="shape-458-151">
            <a:extLst xmlns:a="http://schemas.openxmlformats.org/drawingml/2006/main">
              <a:ext uri="{FF2B5EF4-FFF2-40B4-BE49-F238E27FC236}">
                <a16:creationId xmlns:a16="http://schemas.microsoft.com/office/drawing/2014/main" id="{C6430C14-B5D1-4647-B86C-0673588A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3827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482-173">
            <a:extLst xmlns:a="http://schemas.openxmlformats.org/drawingml/2006/main">
              <a:ext uri="{FF2B5EF4-FFF2-40B4-BE49-F238E27FC236}">
                <a16:creationId xmlns:a16="http://schemas.microsoft.com/office/drawing/2014/main" id="{8EB3AF3D-A6C9-4C9D-8B31-CD436902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47825"/>
            <a:ext cx="30194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Revisão 1</a:t>
            </a:r>
          </a:p>
        </p:txBody>
      </p:sp>
      <p:sp>
        <p:nvSpPr>
          <p:cNvPr id="10" name="text-482-221">
            <a:extLst xmlns:a="http://schemas.openxmlformats.org/drawingml/2006/main">
              <a:ext uri="{FF2B5EF4-FFF2-40B4-BE49-F238E27FC236}">
                <a16:creationId xmlns:a16="http://schemas.microsoft.com/office/drawing/2014/main" id="{C79EB31D-5EBA-4EF3-845D-18E4D1F3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05025"/>
            <a:ext cx="3019425" cy="2600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identification.presentation
add
null → "Trilha de SQL"
autor + horário</a:t>
            </a:r>
          </a:p>
        </p:txBody>
      </p:sp>
      <p:sp>
        <p:nvSpPr>
          <p:cNvPr id="11" name="shape-875-151">
            <a:extLst xmlns:a="http://schemas.openxmlformats.org/drawingml/2006/main">
              <a:ext uri="{FF2B5EF4-FFF2-40B4-BE49-F238E27FC236}">
                <a16:creationId xmlns:a16="http://schemas.microsoft.com/office/drawing/2014/main" id="{B2CDE6E2-9035-481D-82F4-53398984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38275"/>
            <a:ext cx="3476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899-173">
            <a:extLst xmlns:a="http://schemas.openxmlformats.org/drawingml/2006/main">
              <a:ext uri="{FF2B5EF4-FFF2-40B4-BE49-F238E27FC236}">
                <a16:creationId xmlns:a16="http://schemas.microsoft.com/office/drawing/2014/main" id="{85BED019-5F68-49DB-BCCE-639C2715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647825"/>
            <a:ext cx="30194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Revisão 2</a:t>
            </a:r>
          </a:p>
        </p:txBody>
      </p:sp>
      <p:sp>
        <p:nvSpPr>
          <p:cNvPr id="13" name="text-899-221">
            <a:extLst xmlns:a="http://schemas.openxmlformats.org/drawingml/2006/main">
              <a:ext uri="{FF2B5EF4-FFF2-40B4-BE49-F238E27FC236}">
                <a16:creationId xmlns:a16="http://schemas.microsoft.com/office/drawing/2014/main" id="{CE744D67-DC59-4862-9A3C-F7FDDAB7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05025"/>
            <a:ext cx="3019425" cy="2600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execution.modality
replace
"online" → "hybrid"
autor + horário</a:t>
            </a:r>
          </a:p>
        </p:txBody>
      </p:sp>
      <p:sp>
        <p:nvSpPr>
          <p:cNvPr id="14" name="text-41-553">
            <a:extLst xmlns:a="http://schemas.openxmlformats.org/drawingml/2006/main">
              <a:ext uri="{FF2B5EF4-FFF2-40B4-BE49-F238E27FC236}">
                <a16:creationId xmlns:a16="http://schemas.microsoft.com/office/drawing/2014/main" id="{9720D8B7-E488-477B-8CF0-9221E95E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67325"/>
            <a:ext cx="11410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Reconstrução = objeto vazio + mudanças ordenadas até a revisão desejada.</a:t>
            </a:r>
          </a:p>
        </p:txBody>
      </p:sp>
    </p:spTree>
    <p:extLst>
      <p:ext uri="{BB962C8B-B14F-4D97-AF65-F5344CB8AC3E}">
        <p14:creationId xmlns:p14="http://schemas.microsoft.com/office/powerpoint/2010/main" val="11549240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804E3141-3408-47D2-A3CA-7DCBD9D1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validação documental é um fluxo de estados auditável</a:t>
            </a:r>
          </a:p>
        </p:txBody>
      </p:sp>
      <p:cxnSp>
        <p:nvCxnSpPr>
          <p:cNvPr id="28" name="slide-17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17-source">
            <a:extLst xmlns:a="http://schemas.openxmlformats.org/drawingml/2006/main">
              <a:ext uri="{FF2B5EF4-FFF2-40B4-BE49-F238E27FC236}">
                <a16:creationId xmlns:a16="http://schemas.microsoft.com/office/drawing/2014/main" id="{1F6BCEED-5289-4704-9E18-79193809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Fonte: submit_document_revision, document_reviews e triggers de imutabilidade</a:t>
            </a:r>
          </a:p>
        </p:txBody>
      </p:sp>
      <p:sp>
        <p:nvSpPr>
          <p:cNvPr id="4" name="slide-17-number">
            <a:extLst xmlns:a="http://schemas.openxmlformats.org/drawingml/2006/main">
              <a:ext uri="{FF2B5EF4-FFF2-40B4-BE49-F238E27FC236}">
                <a16:creationId xmlns:a16="http://schemas.microsoft.com/office/drawing/2014/main" id="{F373FB20-F03B-47D1-913D-4852888D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  <p:cxnSp>
        <p:nvCxnSpPr>
          <p:cNvPr id="31" name="connector-176-306"/>
          <p:cNvCxnSpPr/>
          <p:nvPr/>
        </p:nvCxnSpPr>
        <p:spPr>
          <a:xfrm xmlns:a="http://schemas.openxmlformats.org/drawingml/2006/main">
            <a:off x="1676400" y="2914650"/>
            <a:ext cx="18478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0000"/>
            </a:solidFill>
            <a:prstDash val="solid"/>
          </a:ln>
        </p:spPr>
      </p:cxnSp>
      <p:cxnSp>
        <p:nvCxnSpPr>
          <p:cNvPr id="32" name="connector-455-306"/>
          <p:cNvCxnSpPr/>
          <p:nvPr/>
        </p:nvCxnSpPr>
        <p:spPr>
          <a:xfrm xmlns:a="http://schemas.openxmlformats.org/drawingml/2006/main">
            <a:off x="4333875" y="2914650"/>
            <a:ext cx="18478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0000"/>
            </a:solidFill>
            <a:prstDash val="solid"/>
          </a:ln>
        </p:spPr>
      </p:cxnSp>
      <p:cxnSp>
        <p:nvCxnSpPr>
          <p:cNvPr id="33" name="connector-734-306"/>
          <p:cNvCxnSpPr/>
          <p:nvPr/>
        </p:nvCxnSpPr>
        <p:spPr>
          <a:xfrm xmlns:a="http://schemas.openxmlformats.org/drawingml/2006/main">
            <a:off x="6991350" y="2914650"/>
            <a:ext cx="18478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0000"/>
            </a:solidFill>
            <a:prstDash val="solid"/>
          </a:ln>
        </p:spPr>
      </p:cxnSp>
      <p:sp>
        <p:nvSpPr>
          <p:cNvPr id="8" name="shape-41-226">
            <a:extLst xmlns:a="http://schemas.openxmlformats.org/drawingml/2006/main">
              <a:ext uri="{FF2B5EF4-FFF2-40B4-BE49-F238E27FC236}">
                <a16:creationId xmlns:a16="http://schemas.microsoft.com/office/drawing/2014/main" id="{81A60F13-B5C5-4456-9D26-A7D26868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52650"/>
            <a:ext cx="219075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5-248">
            <a:extLst xmlns:a="http://schemas.openxmlformats.org/drawingml/2006/main">
              <a:ext uri="{FF2B5EF4-FFF2-40B4-BE49-F238E27FC236}">
                <a16:creationId xmlns:a16="http://schemas.microsoft.com/office/drawing/2014/main" id="{35A5DB54-1B0D-4A07-8BD7-E259CAFD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62200"/>
            <a:ext cx="1733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DRAFT</a:t>
            </a:r>
          </a:p>
        </p:txBody>
      </p:sp>
      <p:sp>
        <p:nvSpPr>
          <p:cNvPr id="10" name="text-65-296">
            <a:extLst xmlns:a="http://schemas.openxmlformats.org/drawingml/2006/main">
              <a:ext uri="{FF2B5EF4-FFF2-40B4-BE49-F238E27FC236}">
                <a16:creationId xmlns:a16="http://schemas.microsoft.com/office/drawing/2014/main" id="{A75CF6AF-39A4-4174-B54E-A0953BD1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19400"/>
            <a:ext cx="1733550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Mentor altera campos</a:t>
            </a:r>
          </a:p>
        </p:txBody>
      </p:sp>
      <p:sp>
        <p:nvSpPr>
          <p:cNvPr id="11" name="shape-320-226">
            <a:extLst xmlns:a="http://schemas.openxmlformats.org/drawingml/2006/main">
              <a:ext uri="{FF2B5EF4-FFF2-40B4-BE49-F238E27FC236}">
                <a16:creationId xmlns:a16="http://schemas.microsoft.com/office/drawing/2014/main" id="{8FE6531D-1BEC-4DB3-80FA-DA5FA341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52650"/>
            <a:ext cx="219075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44-248">
            <a:extLst xmlns:a="http://schemas.openxmlformats.org/drawingml/2006/main">
              <a:ext uri="{FF2B5EF4-FFF2-40B4-BE49-F238E27FC236}">
                <a16:creationId xmlns:a16="http://schemas.microsoft.com/office/drawing/2014/main" id="{CA8EF041-5736-40D1-BCF7-74C83BD1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62200"/>
            <a:ext cx="1733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SUBMITTED</a:t>
            </a:r>
          </a:p>
        </p:txBody>
      </p:sp>
      <p:sp>
        <p:nvSpPr>
          <p:cNvPr id="13" name="text-344-296">
            <a:extLst xmlns:a="http://schemas.openxmlformats.org/drawingml/2006/main">
              <a:ext uri="{FF2B5EF4-FFF2-40B4-BE49-F238E27FC236}">
                <a16:creationId xmlns:a16="http://schemas.microsoft.com/office/drawing/2014/main" id="{CE9F9AA2-6D0D-4503-8D57-755EB362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19400"/>
            <a:ext cx="1733550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Revisão congela</a:t>
            </a:r>
          </a:p>
        </p:txBody>
      </p:sp>
      <p:sp>
        <p:nvSpPr>
          <p:cNvPr id="14" name="shape-599-226">
            <a:extLst xmlns:a="http://schemas.openxmlformats.org/drawingml/2006/main">
              <a:ext uri="{FF2B5EF4-FFF2-40B4-BE49-F238E27FC236}">
                <a16:creationId xmlns:a16="http://schemas.microsoft.com/office/drawing/2014/main" id="{17E82A9C-629B-4A10-99FF-5C5B90DA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52650"/>
            <a:ext cx="219075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23-248">
            <a:extLst xmlns:a="http://schemas.openxmlformats.org/drawingml/2006/main">
              <a:ext uri="{FF2B5EF4-FFF2-40B4-BE49-F238E27FC236}">
                <a16:creationId xmlns:a16="http://schemas.microsoft.com/office/drawing/2014/main" id="{56BE57F0-BA1B-4E1E-92FC-B81A0D2D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362200"/>
            <a:ext cx="1733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</a:t>
            </a:r>
          </a:p>
        </p:txBody>
      </p:sp>
      <p:sp>
        <p:nvSpPr>
          <p:cNvPr id="16" name="text-623-296">
            <a:extLst xmlns:a="http://schemas.openxmlformats.org/drawingml/2006/main">
              <a:ext uri="{FF2B5EF4-FFF2-40B4-BE49-F238E27FC236}">
                <a16:creationId xmlns:a16="http://schemas.microsoft.com/office/drawing/2014/main" id="{5B55C05F-AD87-45C4-81D4-EE002BF7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819400"/>
            <a:ext cx="1733550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Admin/coordenador decide</a:t>
            </a:r>
          </a:p>
        </p:txBody>
      </p:sp>
      <p:sp>
        <p:nvSpPr>
          <p:cNvPr id="17" name="shape-878-171">
            <a:extLst xmlns:a="http://schemas.openxmlformats.org/drawingml/2006/main">
              <a:ext uri="{FF2B5EF4-FFF2-40B4-BE49-F238E27FC236}">
                <a16:creationId xmlns:a16="http://schemas.microsoft.com/office/drawing/2014/main" id="{B5517579-E816-4D43-8A8A-3D527F88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28775"/>
            <a:ext cx="304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9F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902-193">
            <a:extLst xmlns:a="http://schemas.openxmlformats.org/drawingml/2006/main">
              <a:ext uri="{FF2B5EF4-FFF2-40B4-BE49-F238E27FC236}">
                <a16:creationId xmlns:a16="http://schemas.microsoft.com/office/drawing/2014/main" id="{4BD00A07-E6A2-4DDB-8A14-A5D9730A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38325"/>
            <a:ext cx="2590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APPROVED</a:t>
            </a:r>
          </a:p>
        </p:txBody>
      </p:sp>
      <p:sp>
        <p:nvSpPr>
          <p:cNvPr id="19" name="text-902-241">
            <a:extLst xmlns:a="http://schemas.openxmlformats.org/drawingml/2006/main">
              <a:ext uri="{FF2B5EF4-FFF2-40B4-BE49-F238E27FC236}">
                <a16:creationId xmlns:a16="http://schemas.microsoft.com/office/drawing/2014/main" id="{B9588473-5247-410B-B2B5-B9B2B4D7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95525"/>
            <a:ext cx="2590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encerra edição</a:t>
            </a:r>
          </a:p>
        </p:txBody>
      </p:sp>
      <p:sp>
        <p:nvSpPr>
          <p:cNvPr id="20" name="shape-878-296">
            <a:extLst xmlns:a="http://schemas.openxmlformats.org/drawingml/2006/main">
              <a:ext uri="{FF2B5EF4-FFF2-40B4-BE49-F238E27FC236}">
                <a16:creationId xmlns:a16="http://schemas.microsoft.com/office/drawing/2014/main" id="{370D9C95-0C8F-4502-8635-AE01471F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19400"/>
            <a:ext cx="304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902-318">
            <a:extLst xmlns:a="http://schemas.openxmlformats.org/drawingml/2006/main">
              <a:ext uri="{FF2B5EF4-FFF2-40B4-BE49-F238E27FC236}">
                <a16:creationId xmlns:a16="http://schemas.microsoft.com/office/drawing/2014/main" id="{59C78BCF-18DF-47AC-B339-3CD66F8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2590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CHANGES REQUESTED</a:t>
            </a:r>
          </a:p>
        </p:txBody>
      </p:sp>
      <p:sp>
        <p:nvSpPr>
          <p:cNvPr id="22" name="text-902-366">
            <a:extLst xmlns:a="http://schemas.openxmlformats.org/drawingml/2006/main">
              <a:ext uri="{FF2B5EF4-FFF2-40B4-BE49-F238E27FC236}">
                <a16:creationId xmlns:a16="http://schemas.microsoft.com/office/drawing/2014/main" id="{32377440-BCDA-4865-905E-2DF039F6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2590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abre nova revisão</a:t>
            </a:r>
          </a:p>
        </p:txBody>
      </p:sp>
      <p:sp>
        <p:nvSpPr>
          <p:cNvPr id="23" name="shape-878-421">
            <a:extLst xmlns:a="http://schemas.openxmlformats.org/drawingml/2006/main">
              <a:ext uri="{FF2B5EF4-FFF2-40B4-BE49-F238E27FC236}">
                <a16:creationId xmlns:a16="http://schemas.microsoft.com/office/drawing/2014/main" id="{EA043AD6-2852-48D6-A2C6-5C07B720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0025"/>
            <a:ext cx="304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902-443">
            <a:extLst xmlns:a="http://schemas.openxmlformats.org/drawingml/2006/main">
              <a:ext uri="{FF2B5EF4-FFF2-40B4-BE49-F238E27FC236}">
                <a16:creationId xmlns:a16="http://schemas.microsoft.com/office/drawing/2014/main" id="{44CFFE8A-E210-4858-A423-5CA08E30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19575"/>
            <a:ext cx="2590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REJECTED</a:t>
            </a:r>
          </a:p>
        </p:txBody>
      </p:sp>
      <p:sp>
        <p:nvSpPr>
          <p:cNvPr id="25" name="text-902-491">
            <a:extLst xmlns:a="http://schemas.openxmlformats.org/drawingml/2006/main">
              <a:ext uri="{FF2B5EF4-FFF2-40B4-BE49-F238E27FC236}">
                <a16:creationId xmlns:a16="http://schemas.microsoft.com/office/drawing/2014/main" id="{9148D417-8AA1-4208-9682-F1F1EA50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76775"/>
            <a:ext cx="2590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encerra edição</a:t>
            </a:r>
          </a:p>
        </p:txBody>
      </p:sp>
      <p:sp>
        <p:nvSpPr>
          <p:cNvPr id="26" name="text-41-545">
            <a:extLst xmlns:a="http://schemas.openxmlformats.org/drawingml/2006/main">
              <a:ext uri="{FF2B5EF4-FFF2-40B4-BE49-F238E27FC236}">
                <a16:creationId xmlns:a16="http://schemas.microsoft.com/office/drawing/2014/main" id="{355C65C0-ADA7-48F9-9E23-BE045979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91125"/>
            <a:ext cx="7620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Somente revisão submetida pode ser avaliada; somente administrativo/coordenador ativo pode avaliar.</a:t>
            </a:r>
          </a:p>
        </p:txBody>
      </p:sp>
    </p:spTree>
    <p:extLst>
      <p:ext uri="{BB962C8B-B14F-4D97-AF65-F5344CB8AC3E}">
        <p14:creationId xmlns:p14="http://schemas.microsoft.com/office/powerpoint/2010/main" val="1969082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34D4B3E0-D855-4510-999D-F81F5AF0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Notificação e leitura são fatos diferentes</a:t>
            </a:r>
          </a:p>
        </p:txBody>
      </p:sp>
      <p:cxnSp>
        <p:nvCxnSpPr>
          <p:cNvPr id="18" name="slide-18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18-source">
            <a:extLst xmlns:a="http://schemas.openxmlformats.org/drawingml/2006/main">
              <a:ext uri="{FF2B5EF4-FFF2-40B4-BE49-F238E27FC236}">
                <a16:creationId xmlns:a16="http://schemas.microsoft.com/office/drawing/2014/main" id="{E78ADBAF-D95A-46C0-9B13-3FF9BE38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Fonte: notifications e notification_recipients</a:t>
            </a:r>
          </a:p>
        </p:txBody>
      </p:sp>
      <p:sp>
        <p:nvSpPr>
          <p:cNvPr id="4" name="slide-18-number">
            <a:extLst xmlns:a="http://schemas.openxmlformats.org/drawingml/2006/main">
              <a:ext uri="{FF2B5EF4-FFF2-40B4-BE49-F238E27FC236}">
                <a16:creationId xmlns:a16="http://schemas.microsoft.com/office/drawing/2014/main" id="{7C0A1447-5682-4FF8-9C8E-9E04ADBC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  <p:cxnSp>
        <p:nvCxnSpPr>
          <p:cNvPr id="21" name="connector-300-341"/>
          <p:cNvCxnSpPr/>
          <p:nvPr/>
        </p:nvCxnSpPr>
        <p:spPr>
          <a:xfrm xmlns:a="http://schemas.openxmlformats.org/drawingml/2006/main">
            <a:off x="2857500" y="3248025"/>
            <a:ext cx="171450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22" name="connector-768-341"/>
          <p:cNvCxnSpPr/>
          <p:nvPr/>
        </p:nvCxnSpPr>
        <p:spPr>
          <a:xfrm xmlns:a="http://schemas.openxmlformats.org/drawingml/2006/main">
            <a:off x="7315200" y="3248025"/>
            <a:ext cx="171450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7" name="shape-41-222">
            <a:extLst xmlns:a="http://schemas.openxmlformats.org/drawingml/2006/main">
              <a:ext uri="{FF2B5EF4-FFF2-40B4-BE49-F238E27FC236}">
                <a16:creationId xmlns:a16="http://schemas.microsoft.com/office/drawing/2014/main" id="{1E1132D5-8F0E-4995-992E-33D62613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1455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5-244">
            <a:extLst xmlns:a="http://schemas.openxmlformats.org/drawingml/2006/main">
              <a:ext uri="{FF2B5EF4-FFF2-40B4-BE49-F238E27FC236}">
                <a16:creationId xmlns:a16="http://schemas.microsoft.com/office/drawing/2014/main" id="{52391C85-E3C5-4963-A6A1-58451C00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24100"/>
            <a:ext cx="2686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Evento</a:t>
            </a:r>
          </a:p>
        </p:txBody>
      </p:sp>
      <p:sp>
        <p:nvSpPr>
          <p:cNvPr id="9" name="text-65-292">
            <a:extLst xmlns:a="http://schemas.openxmlformats.org/drawingml/2006/main">
              <a:ext uri="{FF2B5EF4-FFF2-40B4-BE49-F238E27FC236}">
                <a16:creationId xmlns:a16="http://schemas.microsoft.com/office/drawing/2014/main" id="{20FFF028-18C2-494D-A417-3FF1B963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268605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Tarefa atribuída
Documento submetido
Documento revisado</a:t>
            </a:r>
          </a:p>
        </p:txBody>
      </p:sp>
      <p:sp>
        <p:nvSpPr>
          <p:cNvPr id="10" name="shape-475-222">
            <a:extLst xmlns:a="http://schemas.openxmlformats.org/drawingml/2006/main">
              <a:ext uri="{FF2B5EF4-FFF2-40B4-BE49-F238E27FC236}">
                <a16:creationId xmlns:a16="http://schemas.microsoft.com/office/drawing/2014/main" id="{9D2189AD-FB84-4D79-AC2B-E34D0C88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1455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499-244">
            <a:extLst xmlns:a="http://schemas.openxmlformats.org/drawingml/2006/main">
              <a:ext uri="{FF2B5EF4-FFF2-40B4-BE49-F238E27FC236}">
                <a16:creationId xmlns:a16="http://schemas.microsoft.com/office/drawing/2014/main" id="{95E97489-09AD-4873-9EFA-4955D293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24100"/>
            <a:ext cx="2686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Notificação</a:t>
            </a:r>
          </a:p>
        </p:txBody>
      </p:sp>
      <p:sp>
        <p:nvSpPr>
          <p:cNvPr id="12" name="text-499-292">
            <a:extLst xmlns:a="http://schemas.openxmlformats.org/drawingml/2006/main">
              <a:ext uri="{FF2B5EF4-FFF2-40B4-BE49-F238E27FC236}">
                <a16:creationId xmlns:a16="http://schemas.microsoft.com/office/drawing/2014/main" id="{CEADC86E-8D4D-4C5B-8D07-6517C7D1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81300"/>
            <a:ext cx="268605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título + mensagem
Trilha/tarefa/documento
URL de ação</a:t>
            </a:r>
          </a:p>
        </p:txBody>
      </p:sp>
      <p:sp>
        <p:nvSpPr>
          <p:cNvPr id="13" name="shape-909-222">
            <a:extLst xmlns:a="http://schemas.openxmlformats.org/drawingml/2006/main">
              <a:ext uri="{FF2B5EF4-FFF2-40B4-BE49-F238E27FC236}">
                <a16:creationId xmlns:a16="http://schemas.microsoft.com/office/drawing/2014/main" id="{8AA79D0E-C6BD-4CD1-B701-3F3787FF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1455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933-244">
            <a:extLst xmlns:a="http://schemas.openxmlformats.org/drawingml/2006/main">
              <a:ext uri="{FF2B5EF4-FFF2-40B4-BE49-F238E27FC236}">
                <a16:creationId xmlns:a16="http://schemas.microsoft.com/office/drawing/2014/main" id="{959D0740-6501-41FE-B056-E6FECBC7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24100"/>
            <a:ext cx="2686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Destinatário</a:t>
            </a:r>
          </a:p>
        </p:txBody>
      </p:sp>
      <p:sp>
        <p:nvSpPr>
          <p:cNvPr id="15" name="text-933-292">
            <a:extLst xmlns:a="http://schemas.openxmlformats.org/drawingml/2006/main">
              <a:ext uri="{FF2B5EF4-FFF2-40B4-BE49-F238E27FC236}">
                <a16:creationId xmlns:a16="http://schemas.microsoft.com/office/drawing/2014/main" id="{C49FEA66-55AB-4B20-B8A7-91DA6EC4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81300"/>
            <a:ext cx="2686050" cy="1390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delivered_at
read_at
archived_at</a:t>
            </a:r>
          </a:p>
        </p:txBody>
      </p:sp>
      <p:sp>
        <p:nvSpPr>
          <p:cNvPr id="16" name="text-41-513">
            <a:extLst xmlns:a="http://schemas.openxmlformats.org/drawingml/2006/main">
              <a:ext uri="{FF2B5EF4-FFF2-40B4-BE49-F238E27FC236}">
                <a16:creationId xmlns:a16="http://schemas.microsoft.com/office/drawing/2014/main" id="{6B7D9EEC-E0A6-4EC4-A102-BB25858E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86325"/>
            <a:ext cx="114109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Uma mensagem pode estar lida para um usuário e não lida para outro.</a:t>
            </a:r>
          </a:p>
        </p:txBody>
      </p:sp>
    </p:spTree>
    <p:extLst>
      <p:ext uri="{BB962C8B-B14F-4D97-AF65-F5344CB8AC3E}">
        <p14:creationId xmlns:p14="http://schemas.microsoft.com/office/powerpoint/2010/main" val="8164876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467DB267-403D-46DB-A820-E1205500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Seed instala referências; não simula o uso diário</a:t>
            </a:r>
          </a:p>
        </p:txBody>
      </p:sp>
      <p:cxnSp>
        <p:nvCxnSpPr>
          <p:cNvPr id="18" name="slide-19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19-source">
            <a:extLst xmlns:a="http://schemas.openxmlformats.org/drawingml/2006/main">
              <a:ext uri="{FF2B5EF4-FFF2-40B4-BE49-F238E27FC236}">
                <a16:creationId xmlns:a16="http://schemas.microsoft.com/office/drawing/2014/main" id="{2135F8E9-6CAF-44CF-BC1F-1BA35AC5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Fonte: database/seeds/001_reference_data.sql e 002_document_templates.sql</a:t>
            </a:r>
          </a:p>
        </p:txBody>
      </p:sp>
      <p:sp>
        <p:nvSpPr>
          <p:cNvPr id="4" name="slide-19-number">
            <a:extLst xmlns:a="http://schemas.openxmlformats.org/drawingml/2006/main">
              <a:ext uri="{FF2B5EF4-FFF2-40B4-BE49-F238E27FC236}">
                <a16:creationId xmlns:a16="http://schemas.microsoft.com/office/drawing/2014/main" id="{2E8A2873-D1F6-49DA-AE1A-3929F678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  <p:sp>
        <p:nvSpPr>
          <p:cNvPr id="5" name="shape-41-153">
            <a:extLst xmlns:a="http://schemas.openxmlformats.org/drawingml/2006/main">
              <a:ext uri="{FF2B5EF4-FFF2-40B4-BE49-F238E27FC236}">
                <a16:creationId xmlns:a16="http://schemas.microsoft.com/office/drawing/2014/main" id="{66144748-2B85-4FE4-9437-0C8C9747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57325"/>
            <a:ext cx="5476875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5-175">
            <a:extLst xmlns:a="http://schemas.openxmlformats.org/drawingml/2006/main">
              <a:ext uri="{FF2B5EF4-FFF2-40B4-BE49-F238E27FC236}">
                <a16:creationId xmlns:a16="http://schemas.microsoft.com/office/drawing/2014/main" id="{E2E3B902-2074-432B-8C6A-7E928092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Acesso e organização</a:t>
            </a:r>
          </a:p>
        </p:txBody>
      </p:sp>
      <p:sp>
        <p:nvSpPr>
          <p:cNvPr id="7" name="text-65-223">
            <a:extLst xmlns:a="http://schemas.openxmlformats.org/drawingml/2006/main">
              <a:ext uri="{FF2B5EF4-FFF2-40B4-BE49-F238E27FC236}">
                <a16:creationId xmlns:a16="http://schemas.microsoft.com/office/drawing/2014/main" id="{BFDE0DF9-4729-4B08-B398-AE746D46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24075"/>
            <a:ext cx="5019675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 papéis • 4 cargos • 18 áreas de conhecimento • 1 categoria</a:t>
            </a:r>
          </a:p>
        </p:txBody>
      </p:sp>
      <p:sp>
        <p:nvSpPr>
          <p:cNvPr id="8" name="shape-664-153">
            <a:extLst xmlns:a="http://schemas.openxmlformats.org/drawingml/2006/main">
              <a:ext uri="{FF2B5EF4-FFF2-40B4-BE49-F238E27FC236}">
                <a16:creationId xmlns:a16="http://schemas.microsoft.com/office/drawing/2014/main" id="{3595D410-4995-4C33-BAFB-F0FEDC08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57325"/>
            <a:ext cx="5476875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88-175">
            <a:extLst xmlns:a="http://schemas.openxmlformats.org/drawingml/2006/main">
              <a:ext uri="{FF2B5EF4-FFF2-40B4-BE49-F238E27FC236}">
                <a16:creationId xmlns:a16="http://schemas.microsoft.com/office/drawing/2014/main" id="{0AC24A1A-95C8-4927-9C79-F3191E57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66875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Processo</a:t>
            </a:r>
          </a:p>
        </p:txBody>
      </p:sp>
      <p:sp>
        <p:nvSpPr>
          <p:cNvPr id="10" name="text-688-223">
            <a:extLst xmlns:a="http://schemas.openxmlformats.org/drawingml/2006/main">
              <a:ext uri="{FF2B5EF4-FFF2-40B4-BE49-F238E27FC236}">
                <a16:creationId xmlns:a16="http://schemas.microsoft.com/office/drawing/2014/main" id="{7AC843AE-99FB-43B7-946F-DBA0B0BD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24075"/>
            <a:ext cx="5019675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template de workflow • 26 tarefas do ciclo de vida</a:t>
            </a:r>
          </a:p>
        </p:txBody>
      </p:sp>
      <p:sp>
        <p:nvSpPr>
          <p:cNvPr id="11" name="shape-41-382">
            <a:extLst xmlns:a="http://schemas.openxmlformats.org/drawingml/2006/main">
              <a:ext uri="{FF2B5EF4-FFF2-40B4-BE49-F238E27FC236}">
                <a16:creationId xmlns:a16="http://schemas.microsoft.com/office/drawing/2014/main" id="{E4550955-BF92-41C5-9E51-BC1FF0E4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38550"/>
            <a:ext cx="5476875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65-404">
            <a:extLst xmlns:a="http://schemas.openxmlformats.org/drawingml/2006/main">
              <a:ext uri="{FF2B5EF4-FFF2-40B4-BE49-F238E27FC236}">
                <a16:creationId xmlns:a16="http://schemas.microsoft.com/office/drawing/2014/main" id="{6675D509-7759-4AE8-8A72-CEA7E897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481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Documentos</a:t>
            </a:r>
          </a:p>
        </p:txBody>
      </p:sp>
      <p:sp>
        <p:nvSpPr>
          <p:cNvPr id="13" name="text-65-452">
            <a:extLst xmlns:a="http://schemas.openxmlformats.org/drawingml/2006/main">
              <a:ext uri="{FF2B5EF4-FFF2-40B4-BE49-F238E27FC236}">
                <a16:creationId xmlns:a16="http://schemas.microsoft.com/office/drawing/2014/main" id="{798570D8-66B8-4B7B-B236-ABF3863B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5019675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Proposta/Escopo v1 • Plano de Ensino v1</a:t>
            </a:r>
          </a:p>
        </p:txBody>
      </p:sp>
      <p:sp>
        <p:nvSpPr>
          <p:cNvPr id="14" name="shape-664-382">
            <a:extLst xmlns:a="http://schemas.openxmlformats.org/drawingml/2006/main">
              <a:ext uri="{FF2B5EF4-FFF2-40B4-BE49-F238E27FC236}">
                <a16:creationId xmlns:a16="http://schemas.microsoft.com/office/drawing/2014/main" id="{35F1B6FE-AE42-47AB-B125-E92220EA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5476875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88-404">
            <a:extLst xmlns:a="http://schemas.openxmlformats.org/drawingml/2006/main">
              <a:ext uri="{FF2B5EF4-FFF2-40B4-BE49-F238E27FC236}">
                <a16:creationId xmlns:a16="http://schemas.microsoft.com/office/drawing/2014/main" id="{0C4A3FD8-93C6-4F18-9E7E-BB4B95D5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que não entra</a:t>
            </a:r>
          </a:p>
        </p:txBody>
      </p:sp>
      <p:sp>
        <p:nvSpPr>
          <p:cNvPr id="16" name="text-688-452">
            <a:extLst xmlns:a="http://schemas.openxmlformats.org/drawingml/2006/main">
              <a:ext uri="{FF2B5EF4-FFF2-40B4-BE49-F238E27FC236}">
                <a16:creationId xmlns:a16="http://schemas.microsoft.com/office/drawing/2014/main" id="{8892776E-CB0D-48EA-B217-88DE2683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05300"/>
            <a:ext cx="5019675" cy="1038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Usuário fictício • Trilha falsa • aluno de exemplo • senha padrão</a:t>
            </a:r>
          </a:p>
        </p:txBody>
      </p:sp>
    </p:spTree>
    <p:extLst>
      <p:ext uri="{BB962C8B-B14F-4D97-AF65-F5344CB8AC3E}">
        <p14:creationId xmlns:p14="http://schemas.microsoft.com/office/powerpoint/2010/main" val="5300818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0-title">
            <a:extLst xmlns:a="http://schemas.openxmlformats.org/drawingml/2006/main">
              <a:ext uri="{FF2B5EF4-FFF2-40B4-BE49-F238E27FC236}">
                <a16:creationId xmlns:a16="http://schemas.microsoft.com/office/drawing/2014/main" id="{582097A8-3E48-436D-B42A-E551B8DF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banco guarda regras; serviços externos guardam artefatos</a:t>
            </a:r>
          </a:p>
        </p:txBody>
      </p:sp>
      <p:cxnSp>
        <p:nvCxnSpPr>
          <p:cNvPr id="16" name="slide-20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20-source">
            <a:extLst xmlns:a="http://schemas.openxmlformats.org/drawingml/2006/main">
              <a:ext uri="{FF2B5EF4-FFF2-40B4-BE49-F238E27FC236}">
                <a16:creationId xmlns:a16="http://schemas.microsoft.com/office/drawing/2014/main" id="{5304427D-EA99-403B-BA67-B551AAC4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Fonte: file_assets e track_external_resources</a:t>
            </a:r>
          </a:p>
        </p:txBody>
      </p:sp>
      <p:sp>
        <p:nvSpPr>
          <p:cNvPr id="4" name="slide-20-number">
            <a:extLst xmlns:a="http://schemas.openxmlformats.org/drawingml/2006/main">
              <a:ext uri="{FF2B5EF4-FFF2-40B4-BE49-F238E27FC236}">
                <a16:creationId xmlns:a16="http://schemas.microsoft.com/office/drawing/2014/main" id="{DF9C261D-6A47-45FE-8C72-D50CB0B3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sp>
        <p:nvSpPr>
          <p:cNvPr id="5" name="shape-41-185">
            <a:extLst xmlns:a="http://schemas.openxmlformats.org/drawingml/2006/main">
              <a:ext uri="{FF2B5EF4-FFF2-40B4-BE49-F238E27FC236}">
                <a16:creationId xmlns:a16="http://schemas.microsoft.com/office/drawing/2014/main" id="{7AB8564A-6B31-4D2B-BC6C-D7463450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62125"/>
            <a:ext cx="3429000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5-207">
            <a:extLst xmlns:a="http://schemas.openxmlformats.org/drawingml/2006/main">
              <a:ext uri="{FF2B5EF4-FFF2-40B4-BE49-F238E27FC236}">
                <a16:creationId xmlns:a16="http://schemas.microsoft.com/office/drawing/2014/main" id="{F504FCAC-E49D-4C51-AD16-66599DEF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2971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</a:t>
            </a:r>
          </a:p>
        </p:txBody>
      </p:sp>
      <p:sp>
        <p:nvSpPr>
          <p:cNvPr id="7" name="text-65-255">
            <a:extLst xmlns:a="http://schemas.openxmlformats.org/drawingml/2006/main">
              <a:ext uri="{FF2B5EF4-FFF2-40B4-BE49-F238E27FC236}">
                <a16:creationId xmlns:a16="http://schemas.microsoft.com/office/drawing/2014/main" id="{4537FADA-DFC4-43E1-BD6B-900CB53E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2971800" cy="2257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metadados
storage_key / URL
MIME, tamanho, SHA-256
relações e auditoria</a:t>
            </a:r>
          </a:p>
        </p:txBody>
      </p:sp>
      <p:sp>
        <p:nvSpPr>
          <p:cNvPr id="8" name="shape-460-185">
            <a:extLst xmlns:a="http://schemas.openxmlformats.org/drawingml/2006/main">
              <a:ext uri="{FF2B5EF4-FFF2-40B4-BE49-F238E27FC236}">
                <a16:creationId xmlns:a16="http://schemas.microsoft.com/office/drawing/2014/main" id="{D0A5A4FA-525B-449A-8015-BC19CD53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62125"/>
            <a:ext cx="3429000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484-207">
            <a:extLst xmlns:a="http://schemas.openxmlformats.org/drawingml/2006/main">
              <a:ext uri="{FF2B5EF4-FFF2-40B4-BE49-F238E27FC236}">
                <a16:creationId xmlns:a16="http://schemas.microsoft.com/office/drawing/2014/main" id="{523E9464-133D-4D6C-937D-A8482B3D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71675"/>
            <a:ext cx="2971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SharePoint / Teams</a:t>
            </a:r>
          </a:p>
        </p:txBody>
      </p:sp>
      <p:sp>
        <p:nvSpPr>
          <p:cNvPr id="10" name="text-484-255">
            <a:extLst xmlns:a="http://schemas.openxmlformats.org/drawingml/2006/main">
              <a:ext uri="{FF2B5EF4-FFF2-40B4-BE49-F238E27FC236}">
                <a16:creationId xmlns:a16="http://schemas.microsoft.com/office/drawing/2014/main" id="{6A690C44-1038-49D7-952B-789AF264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28875"/>
            <a:ext cx="2971800" cy="2257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documentos e evidências
ambiente da Trilha
identificador externo
processo ainda manual</a:t>
            </a:r>
          </a:p>
        </p:txBody>
      </p:sp>
      <p:sp>
        <p:nvSpPr>
          <p:cNvPr id="11" name="shape-879-185">
            <a:extLst xmlns:a="http://schemas.openxmlformats.org/drawingml/2006/main">
              <a:ext uri="{FF2B5EF4-FFF2-40B4-BE49-F238E27FC236}">
                <a16:creationId xmlns:a16="http://schemas.microsoft.com/office/drawing/2014/main" id="{286DBECC-A4B3-4195-9BC7-6C5BECB4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762125"/>
            <a:ext cx="3429000" cy="3133725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903-207">
            <a:extLst xmlns:a="http://schemas.openxmlformats.org/drawingml/2006/main">
              <a:ext uri="{FF2B5EF4-FFF2-40B4-BE49-F238E27FC236}">
                <a16:creationId xmlns:a16="http://schemas.microsoft.com/office/drawing/2014/main" id="{CE1488D1-DC3C-4B8B-92A5-BE5AD1C3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971675"/>
            <a:ext cx="2971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Outros sistemas</a:t>
            </a:r>
          </a:p>
        </p:txBody>
      </p:sp>
      <p:sp>
        <p:nvSpPr>
          <p:cNvPr id="13" name="text-903-255">
            <a:extLst xmlns:a="http://schemas.openxmlformats.org/drawingml/2006/main">
              <a:ext uri="{FF2B5EF4-FFF2-40B4-BE49-F238E27FC236}">
                <a16:creationId xmlns:a16="http://schemas.microsoft.com/office/drawing/2014/main" id="{D2E56A29-9ECB-4BFA-866F-5D1DE386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28875"/>
            <a:ext cx="2971800" cy="2257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assinatura digital
reserva de sala
Softex
armazenamento de fotos</a:t>
            </a:r>
          </a:p>
        </p:txBody>
      </p:sp>
      <p:sp>
        <p:nvSpPr>
          <p:cNvPr id="14" name="text-41-550">
            <a:extLst xmlns:a="http://schemas.openxmlformats.org/drawingml/2006/main">
              <a:ext uri="{FF2B5EF4-FFF2-40B4-BE49-F238E27FC236}">
                <a16:creationId xmlns:a16="http://schemas.microsoft.com/office/drawing/2014/main" id="{A212AFDC-0C85-4AF7-8356-B014B781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0"/>
            <a:ext cx="114109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Evitar bytea reduz acoplamento e tamanho do banco — mas exige política futura de retenção e acesso.</a:t>
            </a:r>
          </a:p>
        </p:txBody>
      </p:sp>
    </p:spTree>
    <p:extLst>
      <p:ext uri="{BB962C8B-B14F-4D97-AF65-F5344CB8AC3E}">
        <p14:creationId xmlns:p14="http://schemas.microsoft.com/office/powerpoint/2010/main" val="960205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1-title">
            <a:extLst xmlns:a="http://schemas.openxmlformats.org/drawingml/2006/main">
              <a:ext uri="{FF2B5EF4-FFF2-40B4-BE49-F238E27FC236}">
                <a16:creationId xmlns:a16="http://schemas.microsoft.com/office/drawing/2014/main" id="{6A6B9E40-68EA-45BF-BFAB-29D35EAA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Remover o legado eliminou atalhos enganosos</a:t>
            </a:r>
          </a:p>
        </p:txBody>
      </p:sp>
      <p:cxnSp>
        <p:nvCxnSpPr>
          <p:cNvPr id="15" name="slide-21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21-source">
            <a:extLst xmlns:a="http://schemas.openxmlformats.org/drawingml/2006/main">
              <a:ext uri="{FF2B5EF4-FFF2-40B4-BE49-F238E27FC236}">
                <a16:creationId xmlns:a16="http://schemas.microsoft.com/office/drawing/2014/main" id="{2FE09A7B-E9A5-4B72-8309-250DA1C8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Comparação com docker/postgres/init removido</a:t>
            </a:r>
          </a:p>
        </p:txBody>
      </p:sp>
      <p:sp>
        <p:nvSpPr>
          <p:cNvPr id="4" name="slide-21-number">
            <a:extLst xmlns:a="http://schemas.openxmlformats.org/drawingml/2006/main">
              <a:ext uri="{FF2B5EF4-FFF2-40B4-BE49-F238E27FC236}">
                <a16:creationId xmlns:a16="http://schemas.microsoft.com/office/drawing/2014/main" id="{38015A80-90EC-4C6D-A1F9-0DDF4A54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21</a:t>
            </a:r>
          </a:p>
        </p:txBody>
      </p:sp>
      <p:sp>
        <p:nvSpPr>
          <p:cNvPr id="5" name="text-41-136">
            <a:extLst xmlns:a="http://schemas.openxmlformats.org/drawingml/2006/main">
              <a:ext uri="{FF2B5EF4-FFF2-40B4-BE49-F238E27FC236}">
                <a16:creationId xmlns:a16="http://schemas.microsoft.com/office/drawing/2014/main" id="{91FB6655-9C57-404B-BE9F-0470FAEF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95400"/>
            <a:ext cx="54768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Antes</a:t>
            </a:r>
          </a:p>
        </p:txBody>
      </p:sp>
      <p:sp>
        <p:nvSpPr>
          <p:cNvPr id="6" name="shape-41-189">
            <a:extLst xmlns:a="http://schemas.openxmlformats.org/drawingml/2006/main">
              <a:ext uri="{FF2B5EF4-FFF2-40B4-BE49-F238E27FC236}">
                <a16:creationId xmlns:a16="http://schemas.microsoft.com/office/drawing/2014/main" id="{23B4B6AD-636E-4741-A6AD-06A1D159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0225"/>
            <a:ext cx="5476875" cy="2924175"/>
          </a:xfrm>
          <a:prstGeom xmlns:a="http://schemas.openxmlformats.org/drawingml/2006/main" prst="roundRect">
            <a:avLst>
              <a:gd name="adj" fmla="val 2606"/>
            </a:avLst>
          </a:prstGeom>
          <a:solidFill xmlns:a="http://schemas.openxmlformats.org/drawingml/2006/main">
            <a:srgbClr val="FF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5-211">
            <a:extLst xmlns:a="http://schemas.openxmlformats.org/drawingml/2006/main">
              <a:ext uri="{FF2B5EF4-FFF2-40B4-BE49-F238E27FC236}">
                <a16:creationId xmlns:a16="http://schemas.microsoft.com/office/drawing/2014/main" id="{7EA566CD-34F6-4E49-A82F-BC3059D3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Scripts de inicialização</a:t>
            </a:r>
          </a:p>
        </p:txBody>
      </p:sp>
      <p:sp>
        <p:nvSpPr>
          <p:cNvPr id="8" name="text-65-259">
            <a:extLst xmlns:a="http://schemas.openxmlformats.org/drawingml/2006/main">
              <a:ext uri="{FF2B5EF4-FFF2-40B4-BE49-F238E27FC236}">
                <a16:creationId xmlns:a16="http://schemas.microsoft.com/office/drawing/2014/main" id="{0242B36A-234B-45E3-805F-D35B051D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5019675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SERIAL
apenas papel administrativo
usuário John Doe
e-mail e senha artificiais
sem histórico de versão</a:t>
            </a:r>
          </a:p>
        </p:txBody>
      </p:sp>
      <p:sp>
        <p:nvSpPr>
          <p:cNvPr id="9" name="text-664-136">
            <a:extLst xmlns:a="http://schemas.openxmlformats.org/drawingml/2006/main">
              <a:ext uri="{FF2B5EF4-FFF2-40B4-BE49-F238E27FC236}">
                <a16:creationId xmlns:a16="http://schemas.microsoft.com/office/drawing/2014/main" id="{D5B4412D-4196-4F1D-A3CD-FBEF2CCB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295400"/>
            <a:ext cx="54768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Agora</a:t>
            </a:r>
          </a:p>
        </p:txBody>
      </p:sp>
      <p:sp>
        <p:nvSpPr>
          <p:cNvPr id="10" name="shape-664-189">
            <a:extLst xmlns:a="http://schemas.openxmlformats.org/drawingml/2006/main">
              <a:ext uri="{FF2B5EF4-FFF2-40B4-BE49-F238E27FC236}">
                <a16:creationId xmlns:a16="http://schemas.microsoft.com/office/drawing/2014/main" id="{3C3BF0ED-C1BC-4F46-A5A6-35B08B7E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0225"/>
            <a:ext cx="5476875" cy="2924175"/>
          </a:xfrm>
          <a:prstGeom xmlns:a="http://schemas.openxmlformats.org/drawingml/2006/main" prst="roundRect">
            <a:avLst>
              <a:gd name="adj" fmla="val 2606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8-211">
            <a:extLst xmlns:a="http://schemas.openxmlformats.org/drawingml/2006/main">
              <a:ext uri="{FF2B5EF4-FFF2-40B4-BE49-F238E27FC236}">
                <a16:creationId xmlns:a16="http://schemas.microsoft.com/office/drawing/2014/main" id="{05831E35-81D6-41B0-BE3E-766EDE23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9775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Banco reproduzível</a:t>
            </a:r>
          </a:p>
        </p:txBody>
      </p:sp>
      <p:sp>
        <p:nvSpPr>
          <p:cNvPr id="12" name="text-688-259">
            <a:extLst xmlns:a="http://schemas.openxmlformats.org/drawingml/2006/main">
              <a:ext uri="{FF2B5EF4-FFF2-40B4-BE49-F238E27FC236}">
                <a16:creationId xmlns:a16="http://schemas.microsoft.com/office/drawing/2014/main" id="{C98BCB31-5981-4812-9CAF-B36EA13C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66975"/>
            <a:ext cx="5019675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UUID
quatro papéis
nenhum usuário fictício
credencial separada
checksum + testes</a:t>
            </a:r>
          </a:p>
        </p:txBody>
      </p:sp>
      <p:sp>
        <p:nvSpPr>
          <p:cNvPr id="13" name="text-41-544">
            <a:extLst xmlns:a="http://schemas.openxmlformats.org/drawingml/2006/main">
              <a:ext uri="{FF2B5EF4-FFF2-40B4-BE49-F238E27FC236}">
                <a16:creationId xmlns:a16="http://schemas.microsoft.com/office/drawing/2014/main" id="{5D0193AD-C062-4984-AA9A-65F2E47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81600"/>
            <a:ext cx="114109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Dado de exemplo não deve decidir silenciosamente como o primeiro usuário de produção será criado.</a:t>
            </a:r>
          </a:p>
        </p:txBody>
      </p:sp>
    </p:spTree>
    <p:extLst>
      <p:ext uri="{BB962C8B-B14F-4D97-AF65-F5344CB8AC3E}">
        <p14:creationId xmlns:p14="http://schemas.microsoft.com/office/powerpoint/2010/main" val="15561680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2-title">
            <a:extLst xmlns:a="http://schemas.openxmlformats.org/drawingml/2006/main">
              <a:ext uri="{FF2B5EF4-FFF2-40B4-BE49-F238E27FC236}">
                <a16:creationId xmlns:a16="http://schemas.microsoft.com/office/drawing/2014/main" id="{B720A4C4-2152-4292-89C6-E9306696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Testes convertem regras de modelagem em evidência</a:t>
            </a:r>
          </a:p>
        </p:txBody>
      </p:sp>
      <p:cxnSp>
        <p:nvCxnSpPr>
          <p:cNvPr id="16" name="slide-22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22-source">
            <a:extLst xmlns:a="http://schemas.openxmlformats.org/drawingml/2006/main">
              <a:ext uri="{FF2B5EF4-FFF2-40B4-BE49-F238E27FC236}">
                <a16:creationId xmlns:a16="http://schemas.microsoft.com/office/drawing/2014/main" id="{333FDB15-F866-486C-9861-A22C1C24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Fonte: database/scripts/test-database.ps1 e tests/001_schema_smoke.sql</a:t>
            </a:r>
          </a:p>
        </p:txBody>
      </p:sp>
      <p:sp>
        <p:nvSpPr>
          <p:cNvPr id="4" name="slide-22-number">
            <a:extLst xmlns:a="http://schemas.openxmlformats.org/drawingml/2006/main">
              <a:ext uri="{FF2B5EF4-FFF2-40B4-BE49-F238E27FC236}">
                <a16:creationId xmlns:a16="http://schemas.microsoft.com/office/drawing/2014/main" id="{34A88AE4-0596-4BB3-BADE-60D82B40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22</a:t>
            </a:r>
          </a:p>
        </p:txBody>
      </p:sp>
      <p:sp>
        <p:nvSpPr>
          <p:cNvPr id="5" name="shape-41-166">
            <a:extLst xmlns:a="http://schemas.openxmlformats.org/drawingml/2006/main">
              <a:ext uri="{FF2B5EF4-FFF2-40B4-BE49-F238E27FC236}">
                <a16:creationId xmlns:a16="http://schemas.microsoft.com/office/drawing/2014/main" id="{29D0D1DA-CD2D-452B-9AA0-B36DA450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81150"/>
            <a:ext cx="3524250" cy="3305175"/>
          </a:xfrm>
          <a:prstGeom xmlns:a="http://schemas.openxmlformats.org/drawingml/2006/main" prst="roundRect">
            <a:avLst>
              <a:gd name="adj" fmla="val 230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5-188">
            <a:extLst xmlns:a="http://schemas.openxmlformats.org/drawingml/2006/main">
              <a:ext uri="{FF2B5EF4-FFF2-40B4-BE49-F238E27FC236}">
                <a16:creationId xmlns:a16="http://schemas.microsoft.com/office/drawing/2014/main" id="{25B90C18-4107-4A36-BB47-26F3E266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90700"/>
            <a:ext cx="3067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Instalação limpa</a:t>
            </a:r>
          </a:p>
        </p:txBody>
      </p:sp>
      <p:sp>
        <p:nvSpPr>
          <p:cNvPr id="7" name="text-65-236">
            <a:extLst xmlns:a="http://schemas.openxmlformats.org/drawingml/2006/main">
              <a:ext uri="{FF2B5EF4-FFF2-40B4-BE49-F238E27FC236}">
                <a16:creationId xmlns:a16="http://schemas.microsoft.com/office/drawing/2014/main" id="{100DBF2D-F17E-4747-84EC-75500009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306705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✓ PostgreSQL 16 descartável
✓ 4 migrations
✓ 2 seeds
✓ banco vazio
✓ transações sem erro</a:t>
            </a:r>
          </a:p>
        </p:txBody>
      </p:sp>
      <p:sp>
        <p:nvSpPr>
          <p:cNvPr id="8" name="shape-455-166">
            <a:extLst xmlns:a="http://schemas.openxmlformats.org/drawingml/2006/main">
              <a:ext uri="{FF2B5EF4-FFF2-40B4-BE49-F238E27FC236}">
                <a16:creationId xmlns:a16="http://schemas.microsoft.com/office/drawing/2014/main" id="{9C0EC9DA-9CD5-411E-9FE7-72408824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81150"/>
            <a:ext cx="3524250" cy="3305175"/>
          </a:xfrm>
          <a:prstGeom xmlns:a="http://schemas.openxmlformats.org/drawingml/2006/main" prst="roundRect">
            <a:avLst>
              <a:gd name="adj" fmla="val 2305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479-188">
            <a:extLst xmlns:a="http://schemas.openxmlformats.org/drawingml/2006/main">
              <a:ext uri="{FF2B5EF4-FFF2-40B4-BE49-F238E27FC236}">
                <a16:creationId xmlns:a16="http://schemas.microsoft.com/office/drawing/2014/main" id="{FF910097-E1E9-4ACE-B242-EE38035A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90700"/>
            <a:ext cx="3067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Regras de domínio</a:t>
            </a:r>
          </a:p>
        </p:txBody>
      </p:sp>
      <p:sp>
        <p:nvSpPr>
          <p:cNvPr id="10" name="text-479-236">
            <a:extLst xmlns:a="http://schemas.openxmlformats.org/drawingml/2006/main">
              <a:ext uri="{FF2B5EF4-FFF2-40B4-BE49-F238E27FC236}">
                <a16:creationId xmlns:a16="http://schemas.microsoft.com/office/drawing/2014/main" id="{2F689B2E-CFA0-4580-A99A-744B97B9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47900"/>
            <a:ext cx="306705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✓ e-mail e cargo únicos
✓ disponibilidade
✓ online × híbrida
✓ autoria e replay
✓ revisão e leitura</a:t>
            </a:r>
          </a:p>
        </p:txBody>
      </p:sp>
      <p:sp>
        <p:nvSpPr>
          <p:cNvPr id="11" name="shape-869-166">
            <a:extLst xmlns:a="http://schemas.openxmlformats.org/drawingml/2006/main">
              <a:ext uri="{FF2B5EF4-FFF2-40B4-BE49-F238E27FC236}">
                <a16:creationId xmlns:a16="http://schemas.microsoft.com/office/drawing/2014/main" id="{56E2D26E-DDD5-4C28-9787-84BA3E3E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81150"/>
            <a:ext cx="3524250" cy="3305175"/>
          </a:xfrm>
          <a:prstGeom xmlns:a="http://schemas.openxmlformats.org/drawingml/2006/main" prst="roundRect">
            <a:avLst>
              <a:gd name="adj" fmla="val 230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893-188">
            <a:extLst xmlns:a="http://schemas.openxmlformats.org/drawingml/2006/main">
              <a:ext uri="{FF2B5EF4-FFF2-40B4-BE49-F238E27FC236}">
                <a16:creationId xmlns:a16="http://schemas.microsoft.com/office/drawing/2014/main" id="{EFA0DA71-8312-4AE0-BFE3-B5905961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790700"/>
            <a:ext cx="3067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Idempotência</a:t>
            </a:r>
          </a:p>
        </p:txBody>
      </p:sp>
      <p:sp>
        <p:nvSpPr>
          <p:cNvPr id="13" name="text-893-236">
            <a:extLst xmlns:a="http://schemas.openxmlformats.org/drawingml/2006/main">
              <a:ext uri="{FF2B5EF4-FFF2-40B4-BE49-F238E27FC236}">
                <a16:creationId xmlns:a16="http://schemas.microsoft.com/office/drawing/2014/main" id="{7D759C2B-3232-496F-B66E-B43AE3DC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47900"/>
            <a:ext cx="306705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✓ segunda execução
✓ nenhuma reaplicação
✓ 4:2 nas tabelas de controle
✓ banco de teste removido</a:t>
            </a:r>
          </a:p>
        </p:txBody>
      </p:sp>
      <p:sp>
        <p:nvSpPr>
          <p:cNvPr id="14" name="text-41-550">
            <a:extLst xmlns:a="http://schemas.openxmlformats.org/drawingml/2006/main">
              <a:ext uri="{FF2B5EF4-FFF2-40B4-BE49-F238E27FC236}">
                <a16:creationId xmlns:a16="http://schemas.microsoft.com/office/drawing/2014/main" id="{8711D19B-EF30-4F1D-8868-CAAC214C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0"/>
            <a:ext cx="114109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teste usa BEGIN/ROLLBACK para provar comportamento sem deixar dados operacionais.</a:t>
            </a:r>
          </a:p>
        </p:txBody>
      </p:sp>
    </p:spTree>
    <p:extLst>
      <p:ext uri="{BB962C8B-B14F-4D97-AF65-F5344CB8AC3E}">
        <p14:creationId xmlns:p14="http://schemas.microsoft.com/office/powerpoint/2010/main" val="96721964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3-title">
            <a:extLst xmlns:a="http://schemas.openxmlformats.org/drawingml/2006/main">
              <a:ext uri="{FF2B5EF4-FFF2-40B4-BE49-F238E27FC236}">
                <a16:creationId xmlns:a16="http://schemas.microsoft.com/office/drawing/2014/main" id="{7690BD3E-9CAF-433A-BC1B-E2603C00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Escopo adiado é uma fronteira explícita do projeto</a:t>
            </a:r>
          </a:p>
        </p:txBody>
      </p:sp>
      <p:cxnSp>
        <p:nvCxnSpPr>
          <p:cNvPr id="31" name="slide-23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23-source">
            <a:extLst xmlns:a="http://schemas.openxmlformats.org/drawingml/2006/main">
              <a:ext uri="{FF2B5EF4-FFF2-40B4-BE49-F238E27FC236}">
                <a16:creationId xmlns:a16="http://schemas.microsoft.com/office/drawing/2014/main" id="{012F5F2E-1834-41D7-A558-6A890E41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Fonte: relatório de modelagem inicial — seção de dados futuros</a:t>
            </a:r>
          </a:p>
        </p:txBody>
      </p:sp>
      <p:sp>
        <p:nvSpPr>
          <p:cNvPr id="4" name="slide-23-number">
            <a:extLst xmlns:a="http://schemas.openxmlformats.org/drawingml/2006/main">
              <a:ext uri="{FF2B5EF4-FFF2-40B4-BE49-F238E27FC236}">
                <a16:creationId xmlns:a16="http://schemas.microsoft.com/office/drawing/2014/main" id="{E37429D4-FDA1-463B-83B1-F6F265E4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23</a:t>
            </a:r>
          </a:p>
        </p:txBody>
      </p:sp>
      <p:sp>
        <p:nvSpPr>
          <p:cNvPr id="5" name="shape-41-147">
            <a:extLst xmlns:a="http://schemas.openxmlformats.org/drawingml/2006/main">
              <a:ext uri="{FF2B5EF4-FFF2-40B4-BE49-F238E27FC236}">
                <a16:creationId xmlns:a16="http://schemas.microsoft.com/office/drawing/2014/main" id="{12263569-C15F-4050-81EE-92FD2659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0175"/>
            <a:ext cx="26479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5-169">
            <a:extLst xmlns:a="http://schemas.openxmlformats.org/drawingml/2006/main">
              <a:ext uri="{FF2B5EF4-FFF2-40B4-BE49-F238E27FC236}">
                <a16:creationId xmlns:a16="http://schemas.microsoft.com/office/drawing/2014/main" id="{DDBC8F96-6E9D-4EF9-B589-F43689DC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9725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Alunos</a:t>
            </a:r>
          </a:p>
        </p:txBody>
      </p:sp>
      <p:sp>
        <p:nvSpPr>
          <p:cNvPr id="7" name="text-65-217">
            <a:extLst xmlns:a="http://schemas.openxmlformats.org/drawingml/2006/main">
              <a:ext uri="{FF2B5EF4-FFF2-40B4-BE49-F238E27FC236}">
                <a16:creationId xmlns:a16="http://schemas.microsoft.com/office/drawing/2014/main" id="{0A181496-65D5-44DF-B167-C6AF0594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2190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dados pessoais e elegibilidade</a:t>
            </a:r>
          </a:p>
        </p:txBody>
      </p:sp>
      <p:sp>
        <p:nvSpPr>
          <p:cNvPr id="8" name="shape-347-147">
            <a:extLst xmlns:a="http://schemas.openxmlformats.org/drawingml/2006/main">
              <a:ext uri="{FF2B5EF4-FFF2-40B4-BE49-F238E27FC236}">
                <a16:creationId xmlns:a16="http://schemas.microsoft.com/office/drawing/2014/main" id="{A892F7BC-DDDD-4C3E-B796-246051E5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400175"/>
            <a:ext cx="26479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371-169">
            <a:extLst xmlns:a="http://schemas.openxmlformats.org/drawingml/2006/main">
              <a:ext uri="{FF2B5EF4-FFF2-40B4-BE49-F238E27FC236}">
                <a16:creationId xmlns:a16="http://schemas.microsoft.com/office/drawing/2014/main" id="{1E1F2B66-57D8-4A69-8BFA-BAF6640C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609725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Inscrições</a:t>
            </a:r>
          </a:p>
        </p:txBody>
      </p:sp>
      <p:sp>
        <p:nvSpPr>
          <p:cNvPr id="10" name="text-371-217">
            <a:extLst xmlns:a="http://schemas.openxmlformats.org/drawingml/2006/main">
              <a:ext uri="{FF2B5EF4-FFF2-40B4-BE49-F238E27FC236}">
                <a16:creationId xmlns:a16="http://schemas.microsoft.com/office/drawing/2014/main" id="{6D62B755-EC95-4ED8-A131-46422016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066925"/>
            <a:ext cx="2190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lista nominal e confirmação</a:t>
            </a:r>
          </a:p>
        </p:txBody>
      </p:sp>
      <p:sp>
        <p:nvSpPr>
          <p:cNvPr id="11" name="shape-653-147">
            <a:extLst xmlns:a="http://schemas.openxmlformats.org/drawingml/2006/main">
              <a:ext uri="{FF2B5EF4-FFF2-40B4-BE49-F238E27FC236}">
                <a16:creationId xmlns:a16="http://schemas.microsoft.com/office/drawing/2014/main" id="{5E2687D1-65F2-41E4-B246-F5714EE7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00175"/>
            <a:ext cx="26479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677-169">
            <a:extLst xmlns:a="http://schemas.openxmlformats.org/drawingml/2006/main">
              <a:ext uri="{FF2B5EF4-FFF2-40B4-BE49-F238E27FC236}">
                <a16:creationId xmlns:a16="http://schemas.microsoft.com/office/drawing/2014/main" id="{B7BF086A-E791-43A6-9B33-92C21393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09725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Acadêmico</a:t>
            </a:r>
          </a:p>
        </p:txBody>
      </p:sp>
      <p:sp>
        <p:nvSpPr>
          <p:cNvPr id="13" name="text-677-217">
            <a:extLst xmlns:a="http://schemas.openxmlformats.org/drawingml/2006/main">
              <a:ext uri="{FF2B5EF4-FFF2-40B4-BE49-F238E27FC236}">
                <a16:creationId xmlns:a16="http://schemas.microsoft.com/office/drawing/2014/main" id="{401764AF-3BB1-4FD6-A907-D6FF9C60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66925"/>
            <a:ext cx="2190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presença, provas e atividades</a:t>
            </a:r>
          </a:p>
        </p:txBody>
      </p:sp>
      <p:sp>
        <p:nvSpPr>
          <p:cNvPr id="14" name="shape-959-147">
            <a:extLst xmlns:a="http://schemas.openxmlformats.org/drawingml/2006/main">
              <a:ext uri="{FF2B5EF4-FFF2-40B4-BE49-F238E27FC236}">
                <a16:creationId xmlns:a16="http://schemas.microsoft.com/office/drawing/2014/main" id="{9EF4E781-BF7D-43BE-9C09-5F6E2D5E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400175"/>
            <a:ext cx="26479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983-169">
            <a:extLst xmlns:a="http://schemas.openxmlformats.org/drawingml/2006/main">
              <a:ext uri="{FF2B5EF4-FFF2-40B4-BE49-F238E27FC236}">
                <a16:creationId xmlns:a16="http://schemas.microsoft.com/office/drawing/2014/main" id="{46F116C7-8889-435D-8B79-2CC090EA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609725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Conclusão</a:t>
            </a:r>
          </a:p>
        </p:txBody>
      </p:sp>
      <p:sp>
        <p:nvSpPr>
          <p:cNvPr id="16" name="text-983-217">
            <a:extLst xmlns:a="http://schemas.openxmlformats.org/drawingml/2006/main">
              <a:ext uri="{FF2B5EF4-FFF2-40B4-BE49-F238E27FC236}">
                <a16:creationId xmlns:a16="http://schemas.microsoft.com/office/drawing/2014/main" id="{A10C2456-5080-49C4-AA57-FDD996B7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066925"/>
            <a:ext cx="2190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resultado e certificado</a:t>
            </a:r>
          </a:p>
        </p:txBody>
      </p:sp>
      <p:sp>
        <p:nvSpPr>
          <p:cNvPr id="17" name="shape-41-367">
            <a:extLst xmlns:a="http://schemas.openxmlformats.org/drawingml/2006/main">
              <a:ext uri="{FF2B5EF4-FFF2-40B4-BE49-F238E27FC236}">
                <a16:creationId xmlns:a16="http://schemas.microsoft.com/office/drawing/2014/main" id="{BAFEB46A-4FC0-42D9-8747-180852A9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95675"/>
            <a:ext cx="26479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65-389">
            <a:extLst xmlns:a="http://schemas.openxmlformats.org/drawingml/2006/main">
              <a:ext uri="{FF2B5EF4-FFF2-40B4-BE49-F238E27FC236}">
                <a16:creationId xmlns:a16="http://schemas.microsoft.com/office/drawing/2014/main" id="{06E3A52C-A1D4-4293-9A05-E63DE9A5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Softex</a:t>
            </a:r>
          </a:p>
        </p:txBody>
      </p:sp>
      <p:sp>
        <p:nvSpPr>
          <p:cNvPr id="19" name="text-65-437">
            <a:extLst xmlns:a="http://schemas.openxmlformats.org/drawingml/2006/main">
              <a:ext uri="{FF2B5EF4-FFF2-40B4-BE49-F238E27FC236}">
                <a16:creationId xmlns:a16="http://schemas.microsoft.com/office/drawing/2014/main" id="{60C0A0CF-1187-4AAE-979B-9BDB5895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2190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relatórios e Anexo 12</a:t>
            </a:r>
          </a:p>
        </p:txBody>
      </p:sp>
      <p:sp>
        <p:nvSpPr>
          <p:cNvPr id="20" name="shape-347-367">
            <a:extLst xmlns:a="http://schemas.openxmlformats.org/drawingml/2006/main">
              <a:ext uri="{FF2B5EF4-FFF2-40B4-BE49-F238E27FC236}">
                <a16:creationId xmlns:a16="http://schemas.microsoft.com/office/drawing/2014/main" id="{5785B09F-403B-43F5-BFA7-EB537F70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95675"/>
            <a:ext cx="26479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371-389">
            <a:extLst xmlns:a="http://schemas.openxmlformats.org/drawingml/2006/main">
              <a:ext uri="{FF2B5EF4-FFF2-40B4-BE49-F238E27FC236}">
                <a16:creationId xmlns:a16="http://schemas.microsoft.com/office/drawing/2014/main" id="{F8F52471-3E18-4B7A-B72D-A8A12905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705225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Integrações</a:t>
            </a:r>
          </a:p>
        </p:txBody>
      </p:sp>
      <p:sp>
        <p:nvSpPr>
          <p:cNvPr id="22" name="text-371-437">
            <a:extLst xmlns:a="http://schemas.openxmlformats.org/drawingml/2006/main">
              <a:ext uri="{FF2B5EF4-FFF2-40B4-BE49-F238E27FC236}">
                <a16:creationId xmlns:a16="http://schemas.microsoft.com/office/drawing/2014/main" id="{EEDE7748-0CA8-4B72-B8A7-E2EE911B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162425"/>
            <a:ext cx="2190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Teams e SharePoint automáticos</a:t>
            </a:r>
          </a:p>
        </p:txBody>
      </p:sp>
      <p:sp>
        <p:nvSpPr>
          <p:cNvPr id="23" name="shape-653-367">
            <a:extLst xmlns:a="http://schemas.openxmlformats.org/drawingml/2006/main">
              <a:ext uri="{FF2B5EF4-FFF2-40B4-BE49-F238E27FC236}">
                <a16:creationId xmlns:a16="http://schemas.microsoft.com/office/drawing/2014/main" id="{BF6CFF2C-79D7-460A-90CD-514CA75E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495675"/>
            <a:ext cx="26479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677-389">
            <a:extLst xmlns:a="http://schemas.openxmlformats.org/drawingml/2006/main">
              <a:ext uri="{FF2B5EF4-FFF2-40B4-BE49-F238E27FC236}">
                <a16:creationId xmlns:a16="http://schemas.microsoft.com/office/drawing/2014/main" id="{436D2ADC-E328-4DE1-95C7-9FC07594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05225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Assinatura</a:t>
            </a:r>
          </a:p>
        </p:txBody>
      </p:sp>
      <p:sp>
        <p:nvSpPr>
          <p:cNvPr id="25" name="text-677-437">
            <a:extLst xmlns:a="http://schemas.openxmlformats.org/drawingml/2006/main">
              <a:ext uri="{FF2B5EF4-FFF2-40B4-BE49-F238E27FC236}">
                <a16:creationId xmlns:a16="http://schemas.microsoft.com/office/drawing/2014/main" id="{9749456E-77EA-4336-B487-251F5DC0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162425"/>
            <a:ext cx="2190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fluxo digital externo</a:t>
            </a:r>
          </a:p>
        </p:txBody>
      </p:sp>
      <p:sp>
        <p:nvSpPr>
          <p:cNvPr id="26" name="shape-959-367">
            <a:extLst xmlns:a="http://schemas.openxmlformats.org/drawingml/2006/main">
              <a:ext uri="{FF2B5EF4-FFF2-40B4-BE49-F238E27FC236}">
                <a16:creationId xmlns:a16="http://schemas.microsoft.com/office/drawing/2014/main" id="{9EBC437D-DCBB-40F1-97B5-CB88FCAA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495675"/>
            <a:ext cx="26479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983-389">
            <a:extLst xmlns:a="http://schemas.openxmlformats.org/drawingml/2006/main">
              <a:ext uri="{FF2B5EF4-FFF2-40B4-BE49-F238E27FC236}">
                <a16:creationId xmlns:a16="http://schemas.microsoft.com/office/drawing/2014/main" id="{0A5C7566-65F9-4A11-A994-B7FCA28A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705225"/>
            <a:ext cx="219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Salas</a:t>
            </a:r>
          </a:p>
        </p:txBody>
      </p:sp>
      <p:sp>
        <p:nvSpPr>
          <p:cNvPr id="28" name="text-983-437">
            <a:extLst xmlns:a="http://schemas.openxmlformats.org/drawingml/2006/main">
              <a:ext uri="{FF2B5EF4-FFF2-40B4-BE49-F238E27FC236}">
                <a16:creationId xmlns:a16="http://schemas.microsoft.com/office/drawing/2014/main" id="{4800E66F-54EF-4E8E-A0D9-1B436045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162425"/>
            <a:ext cx="2190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reserva continua na faculdade</a:t>
            </a:r>
          </a:p>
        </p:txBody>
      </p:sp>
      <p:sp>
        <p:nvSpPr>
          <p:cNvPr id="29" name="text-41-584">
            <a:extLst xmlns:a="http://schemas.openxmlformats.org/drawingml/2006/main">
              <a:ext uri="{FF2B5EF4-FFF2-40B4-BE49-F238E27FC236}">
                <a16:creationId xmlns:a16="http://schemas.microsoft.com/office/drawing/2014/main" id="{C4FB8F09-BC78-44A3-B8C4-13C192B0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62600"/>
            <a:ext cx="11410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 tarefas já registram esses marcos manualmente; os dados detalhados virão em migrations futuras.</a:t>
            </a:r>
          </a:p>
        </p:txBody>
      </p:sp>
    </p:spTree>
    <p:extLst>
      <p:ext uri="{BB962C8B-B14F-4D97-AF65-F5344CB8AC3E}">
        <p14:creationId xmlns:p14="http://schemas.microsoft.com/office/powerpoint/2010/main" val="5934227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4-title">
            <a:extLst xmlns:a="http://schemas.openxmlformats.org/drawingml/2006/main">
              <a:ext uri="{FF2B5EF4-FFF2-40B4-BE49-F238E27FC236}">
                <a16:creationId xmlns:a16="http://schemas.microsoft.com/office/drawing/2014/main" id="{FB80ECEC-112B-4E6C-BF7F-8E9C77ED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Referências oficiais: PostgreSQL e padrões</a:t>
            </a:r>
          </a:p>
        </p:txBody>
      </p:sp>
      <p:cxnSp>
        <p:nvCxnSpPr>
          <p:cNvPr id="7" name="slide-24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24-source">
            <a:extLst xmlns:a="http://schemas.openxmlformats.org/drawingml/2006/main">
              <a:ext uri="{FF2B5EF4-FFF2-40B4-BE49-F238E27FC236}">
                <a16:creationId xmlns:a16="http://schemas.microsoft.com/office/drawing/2014/main" id="{932737C5-A7EF-4D07-AF73-44551E85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Consulta realizada em 14 jul. 2026</a:t>
            </a:r>
          </a:p>
        </p:txBody>
      </p:sp>
      <p:sp>
        <p:nvSpPr>
          <p:cNvPr id="4" name="slide-24-number">
            <a:extLst xmlns:a="http://schemas.openxmlformats.org/drawingml/2006/main">
              <a:ext uri="{FF2B5EF4-FFF2-40B4-BE49-F238E27FC236}">
                <a16:creationId xmlns:a16="http://schemas.microsoft.com/office/drawing/2014/main" id="{F0971357-EFED-4F46-9839-5CDA6336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24</a:t>
            </a:r>
          </a:p>
        </p:txBody>
      </p:sp>
      <p:graphicFrame>
        <p:nvGraphicFramePr>
          <p:cNvPr id="10" name="official-references-1"/>
          <p:cNvGraphicFramePr/>
          <p:nvPr/>
        </p:nvGraphicFramePr>
        <p:xfrm>
          <a:off xmlns:a="http://schemas.openxmlformats.org/drawingml/2006/main" x="390525" y="1428750"/>
          <a:ext xmlns:a="http://schemas.openxmlformats.org/drawingml/2006/main" cx="114109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934450"/>
              </a:tblGrid>
              <a:tr h="612321">
                <a:tc>
                  <a:txBody>
                    <a:bodyPr/>
                    <a:lstStyle/>
                    <a:p>
                      <a:r>
                        <a:t>Tema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Fonte</a:t>
                      </a:r>
                    </a:p>
                  </a:txBody>
                  <a:tcPr marL="91440" marR="91440" marT="45720" marB="4572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UUID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postgresql.org/docs/16/datatype-uuid.html • RFC 9562</a:t>
                      </a:r>
                    </a:p>
                  </a:txBody>
                  <a:tcPr marL="91440" marR="91440" marT="45720" marB="4572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SERIAL / identity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postgresql.org/docs/current/datatype-numeric.html</a:t>
                      </a:r>
                    </a:p>
                  </a:txBody>
                  <a:tcPr marL="91440" marR="91440" marT="45720" marB="4572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Constraints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postgresql.org/docs/16/ddl-constraints.html</a:t>
                      </a:r>
                    </a:p>
                  </a:txBody>
                  <a:tcPr marL="91440" marR="91440" marT="45720" marB="4572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Triggers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postgresql.org/docs/current/plpgsql-trigger.html</a:t>
                      </a:r>
                    </a:p>
                  </a:txBody>
                  <a:tcPr marL="91440" marR="91440" marT="45720" marB="4572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JSONB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postgresql.org/docs/17/functions-json.html</a:t>
                      </a:r>
                    </a:p>
                  </a:txBody>
                  <a:tcPr marL="91440" marR="91440" marT="45720" marB="4572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Transações / psql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postgresql.org/docs/16/tutorial-transactions.html • backup-dump.html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3623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5-title">
            <a:extLst xmlns:a="http://schemas.openxmlformats.org/drawingml/2006/main">
              <a:ext uri="{FF2B5EF4-FFF2-40B4-BE49-F238E27FC236}">
                <a16:creationId xmlns:a16="http://schemas.microsoft.com/office/drawing/2014/main" id="{CBF67772-03AB-4FA1-8C73-470CDF58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114109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Referências de segurança e código-fonte da aula</a:t>
            </a:r>
          </a:p>
        </p:txBody>
      </p:sp>
      <p:cxnSp>
        <p:nvCxnSpPr>
          <p:cNvPr id="19" name="slide-25-footer-rule"/>
          <p:cNvCxnSpPr/>
          <p:nvPr/>
        </p:nvCxnSpPr>
        <p:spPr>
          <a:xfrm xmlns:a="http://schemas.openxmlformats.org/drawingml/2006/main">
            <a:off x="390525" y="6191250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lide-25-source">
            <a:extLst xmlns:a="http://schemas.openxmlformats.org/drawingml/2006/main">
              <a:ext uri="{FF2B5EF4-FFF2-40B4-BE49-F238E27FC236}">
                <a16:creationId xmlns:a16="http://schemas.microsoft.com/office/drawing/2014/main" id="{564AE289-7EF0-4EED-AAC4-9A5F7564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057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Fontes primárias e arquivos locais do projeto</a:t>
            </a:r>
          </a:p>
        </p:txBody>
      </p:sp>
      <p:sp>
        <p:nvSpPr>
          <p:cNvPr id="4" name="slide-25-number">
            <a:extLst xmlns:a="http://schemas.openxmlformats.org/drawingml/2006/main">
              <a:ext uri="{FF2B5EF4-FFF2-40B4-BE49-F238E27FC236}">
                <a16:creationId xmlns:a16="http://schemas.microsoft.com/office/drawing/2014/main" id="{DDE9E4EF-BF7D-4998-B0A0-5539FD98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810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25</a:t>
            </a:r>
          </a:p>
        </p:txBody>
      </p:sp>
      <p:sp>
        <p:nvSpPr>
          <p:cNvPr id="5" name="shape-41-150">
            <a:extLst xmlns:a="http://schemas.openxmlformats.org/drawingml/2006/main">
              <a:ext uri="{FF2B5EF4-FFF2-40B4-BE49-F238E27FC236}">
                <a16:creationId xmlns:a16="http://schemas.microsoft.com/office/drawing/2014/main" id="{CAA6FF86-E3B7-4300-9509-D2814E18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47687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5-172">
            <a:extLst xmlns:a="http://schemas.openxmlformats.org/drawingml/2006/main">
              <a:ext uri="{FF2B5EF4-FFF2-40B4-BE49-F238E27FC236}">
                <a16:creationId xmlns:a16="http://schemas.microsoft.com/office/drawing/2014/main" id="{DFE01A92-C519-4BA7-83BD-6B6A641C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383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Segurança e integridade</a:t>
            </a:r>
          </a:p>
        </p:txBody>
      </p:sp>
      <p:sp>
        <p:nvSpPr>
          <p:cNvPr id="7" name="text-65-220">
            <a:extLst xmlns:a="http://schemas.openxmlformats.org/drawingml/2006/main">
              <a:ext uri="{FF2B5EF4-FFF2-40B4-BE49-F238E27FC236}">
                <a16:creationId xmlns:a16="http://schemas.microsoft.com/office/drawing/2014/main" id="{8533984A-8923-4BCF-88DD-953A3B0C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01967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OWASP Password Storage Cheat Sheet
NIST FIPS 180-4 — SHA-256</a:t>
            </a:r>
          </a:p>
        </p:txBody>
      </p:sp>
      <p:sp>
        <p:nvSpPr>
          <p:cNvPr id="8" name="shape-664-150">
            <a:extLst xmlns:a="http://schemas.openxmlformats.org/drawingml/2006/main">
              <a:ext uri="{FF2B5EF4-FFF2-40B4-BE49-F238E27FC236}">
                <a16:creationId xmlns:a16="http://schemas.microsoft.com/office/drawing/2014/main" id="{E37F4A6E-3FB9-487A-90DC-9DFECC82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7687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88-172">
            <a:extLst xmlns:a="http://schemas.openxmlformats.org/drawingml/2006/main">
              <a:ext uri="{FF2B5EF4-FFF2-40B4-BE49-F238E27FC236}">
                <a16:creationId xmlns:a16="http://schemas.microsoft.com/office/drawing/2014/main" id="{81CEB605-5829-46E8-A0D4-A0C18FE8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383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Execução</a:t>
            </a:r>
          </a:p>
        </p:txBody>
      </p:sp>
      <p:sp>
        <p:nvSpPr>
          <p:cNvPr id="10" name="text-688-220">
            <a:extLst xmlns:a="http://schemas.openxmlformats.org/drawingml/2006/main">
              <a:ext uri="{FF2B5EF4-FFF2-40B4-BE49-F238E27FC236}">
                <a16:creationId xmlns:a16="http://schemas.microsoft.com/office/drawing/2014/main" id="{668A4439-A9E3-4D94-A2C5-0B6115EE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5500"/>
            <a:ext cx="501967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database/scripts/apply-migrations.ps1
database/scripts/test-database.ps1</a:t>
            </a:r>
          </a:p>
        </p:txBody>
      </p:sp>
      <p:sp>
        <p:nvSpPr>
          <p:cNvPr id="11" name="shape-41-366">
            <a:extLst xmlns:a="http://schemas.openxmlformats.org/drawingml/2006/main">
              <a:ext uri="{FF2B5EF4-FFF2-40B4-BE49-F238E27FC236}">
                <a16:creationId xmlns:a16="http://schemas.microsoft.com/office/drawing/2014/main" id="{A57F8935-A922-4E68-8FF0-86BEA3C2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86150"/>
            <a:ext cx="547687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65-388">
            <a:extLst xmlns:a="http://schemas.openxmlformats.org/drawingml/2006/main">
              <a:ext uri="{FF2B5EF4-FFF2-40B4-BE49-F238E27FC236}">
                <a16:creationId xmlns:a16="http://schemas.microsoft.com/office/drawing/2014/main" id="{16184D02-8386-4CE6-AD3F-DED4FF7A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957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Esquema</a:t>
            </a:r>
          </a:p>
        </p:txBody>
      </p:sp>
      <p:sp>
        <p:nvSpPr>
          <p:cNvPr id="13" name="text-65-436">
            <a:extLst xmlns:a="http://schemas.openxmlformats.org/drawingml/2006/main">
              <a:ext uri="{FF2B5EF4-FFF2-40B4-BE49-F238E27FC236}">
                <a16:creationId xmlns:a16="http://schemas.microsoft.com/office/drawing/2014/main" id="{46938361-D3F7-4366-BE48-81C16B71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52900"/>
            <a:ext cx="501967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001_foundation.sql • 002_users.sql
003_tracks.sql • 004_documents_notifications.sql</a:t>
            </a:r>
          </a:p>
        </p:txBody>
      </p:sp>
      <p:sp>
        <p:nvSpPr>
          <p:cNvPr id="14" name="shape-664-366">
            <a:extLst xmlns:a="http://schemas.openxmlformats.org/drawingml/2006/main">
              <a:ext uri="{FF2B5EF4-FFF2-40B4-BE49-F238E27FC236}">
                <a16:creationId xmlns:a16="http://schemas.microsoft.com/office/drawing/2014/main" id="{58022B20-8D51-43E2-AA15-99E1C09C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547687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88-388">
            <a:extLst xmlns:a="http://schemas.openxmlformats.org/drawingml/2006/main">
              <a:ext uri="{FF2B5EF4-FFF2-40B4-BE49-F238E27FC236}">
                <a16:creationId xmlns:a16="http://schemas.microsoft.com/office/drawing/2014/main" id="{D39DC788-88B6-47BD-A4CB-E0053C05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957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Dados iniciais e provas</a:t>
            </a:r>
          </a:p>
        </p:txBody>
      </p:sp>
      <p:sp>
        <p:nvSpPr>
          <p:cNvPr id="16" name="text-688-436">
            <a:extLst xmlns:a="http://schemas.openxmlformats.org/drawingml/2006/main">
              <a:ext uri="{FF2B5EF4-FFF2-40B4-BE49-F238E27FC236}">
                <a16:creationId xmlns:a16="http://schemas.microsoft.com/office/drawing/2014/main" id="{6FA8ED0F-7782-4957-BA07-C362D969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501967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seeds/001_reference_data.sql
seeds/002_document_templates.sql
tests/001_schema_smoke.sql</a:t>
            </a:r>
          </a:p>
        </p:txBody>
      </p:sp>
      <p:sp>
        <p:nvSpPr>
          <p:cNvPr id="17" name="text-41-585">
            <a:extLst xmlns:a="http://schemas.openxmlformats.org/drawingml/2006/main">
              <a:ext uri="{FF2B5EF4-FFF2-40B4-BE49-F238E27FC236}">
                <a16:creationId xmlns:a16="http://schemas.microsoft.com/office/drawing/2014/main" id="{723FF72B-D30F-45D2-AA8D-6CD1FE1D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11410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fonte mais importante desta aula é o SQL executável: ele revela a regra exata, não apenas a intenção.</a:t>
            </a:r>
          </a:p>
        </p:txBody>
      </p:sp>
    </p:spTree>
    <p:extLst>
      <p:ext uri="{BB962C8B-B14F-4D97-AF65-F5344CB8AC3E}">
        <p14:creationId xmlns:p14="http://schemas.microsoft.com/office/powerpoint/2010/main" val="11766316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42">
            <a:extLst xmlns:a="http://schemas.openxmlformats.org/drawingml/2006/main">
              <a:ext uri="{FF2B5EF4-FFF2-40B4-BE49-F238E27FC236}">
                <a16:creationId xmlns:a16="http://schemas.microsoft.com/office/drawing/2014/main" id="{B5EB8A71-6BA8-435B-A813-55955770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114109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que este banco garante?</a:t>
            </a:r>
          </a:p>
        </p:txBody>
      </p:sp>
      <p:sp>
        <p:nvSpPr>
          <p:cNvPr id="2" name="shape-41-166">
            <a:extLst xmlns:a="http://schemas.openxmlformats.org/drawingml/2006/main">
              <a:ext uri="{FF2B5EF4-FFF2-40B4-BE49-F238E27FC236}">
                <a16:creationId xmlns:a16="http://schemas.microsoft.com/office/drawing/2014/main" id="{B85CFC78-7BED-4897-A45E-101F7AC5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81150"/>
            <a:ext cx="54768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65-188">
            <a:extLst xmlns:a="http://schemas.openxmlformats.org/drawingml/2006/main">
              <a:ext uri="{FF2B5EF4-FFF2-40B4-BE49-F238E27FC236}">
                <a16:creationId xmlns:a16="http://schemas.microsoft.com/office/drawing/2014/main" id="{29BF8509-DA33-4413-B97D-ECCA9AE6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907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Estrutura reproduzível</a:t>
            </a:r>
          </a:p>
        </p:txBody>
      </p:sp>
      <p:sp>
        <p:nvSpPr>
          <p:cNvPr id="4" name="text-65-236">
            <a:extLst xmlns:a="http://schemas.openxmlformats.org/drawingml/2006/main">
              <a:ext uri="{FF2B5EF4-FFF2-40B4-BE49-F238E27FC236}">
                <a16:creationId xmlns:a16="http://schemas.microsoft.com/office/drawing/2014/main" id="{F70EAF3B-C435-46A2-A294-945AE273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5019675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Migrations ordenadas, transacionais e verificadas por checksum.</a:t>
            </a:r>
          </a:p>
        </p:txBody>
      </p:sp>
      <p:sp>
        <p:nvSpPr>
          <p:cNvPr id="5" name="shape-664-166">
            <a:extLst xmlns:a="http://schemas.openxmlformats.org/drawingml/2006/main">
              <a:ext uri="{FF2B5EF4-FFF2-40B4-BE49-F238E27FC236}">
                <a16:creationId xmlns:a16="http://schemas.microsoft.com/office/drawing/2014/main" id="{57A22597-5706-4F7D-85B2-4B722A8E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54768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88-188">
            <a:extLst xmlns:a="http://schemas.openxmlformats.org/drawingml/2006/main">
              <a:ext uri="{FF2B5EF4-FFF2-40B4-BE49-F238E27FC236}">
                <a16:creationId xmlns:a16="http://schemas.microsoft.com/office/drawing/2014/main" id="{CBDE72AD-8D86-48BC-B99B-2ED9E588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Estados válidos</a:t>
            </a:r>
          </a:p>
        </p:txBody>
      </p:sp>
      <p:sp>
        <p:nvSpPr>
          <p:cNvPr id="7" name="text-688-236">
            <a:extLst xmlns:a="http://schemas.openxmlformats.org/drawingml/2006/main">
              <a:ext uri="{FF2B5EF4-FFF2-40B4-BE49-F238E27FC236}">
                <a16:creationId xmlns:a16="http://schemas.microsoft.com/office/drawing/2014/main" id="{6AE432A0-8192-4272-B531-20F7E73E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5019675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Constraints e triggers rejeitam combinações incompatíveis.</a:t>
            </a:r>
          </a:p>
        </p:txBody>
      </p:sp>
      <p:sp>
        <p:nvSpPr>
          <p:cNvPr id="8" name="shape-41-374">
            <a:extLst xmlns:a="http://schemas.openxmlformats.org/drawingml/2006/main">
              <a:ext uri="{FF2B5EF4-FFF2-40B4-BE49-F238E27FC236}">
                <a16:creationId xmlns:a16="http://schemas.microsoft.com/office/drawing/2014/main" id="{C431E395-71B7-41F3-977B-666C0B82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62350"/>
            <a:ext cx="54768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5-396">
            <a:extLst xmlns:a="http://schemas.openxmlformats.org/drawingml/2006/main">
              <a:ext uri="{FF2B5EF4-FFF2-40B4-BE49-F238E27FC236}">
                <a16:creationId xmlns:a16="http://schemas.microsoft.com/office/drawing/2014/main" id="{CD5763A4-2134-4F72-A240-70BF7846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19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História explicável</a:t>
            </a:r>
          </a:p>
        </p:txBody>
      </p:sp>
      <p:sp>
        <p:nvSpPr>
          <p:cNvPr id="10" name="text-65-444">
            <a:extLst xmlns:a="http://schemas.openxmlformats.org/drawingml/2006/main">
              <a:ext uri="{FF2B5EF4-FFF2-40B4-BE49-F238E27FC236}">
                <a16:creationId xmlns:a16="http://schemas.microsoft.com/office/drawing/2014/main" id="{14594194-CE65-429C-A233-C0256008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5019675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Auditoria, revisões diferenciais e decisões preservam autoria.</a:t>
            </a:r>
          </a:p>
        </p:txBody>
      </p:sp>
      <p:sp>
        <p:nvSpPr>
          <p:cNvPr id="11" name="shape-664-374">
            <a:extLst xmlns:a="http://schemas.openxmlformats.org/drawingml/2006/main">
              <a:ext uri="{FF2B5EF4-FFF2-40B4-BE49-F238E27FC236}">
                <a16:creationId xmlns:a16="http://schemas.microsoft.com/office/drawing/2014/main" id="{0285CF1A-6851-44CC-A7B5-83AD0F96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54768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688-396">
            <a:extLst xmlns:a="http://schemas.openxmlformats.org/drawingml/2006/main">
              <a:ext uri="{FF2B5EF4-FFF2-40B4-BE49-F238E27FC236}">
                <a16:creationId xmlns:a16="http://schemas.microsoft.com/office/drawing/2014/main" id="{4E65CC6B-5B54-4DED-9B8A-33A961A9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50196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Evolução consciente</a:t>
            </a:r>
          </a:p>
        </p:txBody>
      </p:sp>
      <p:sp>
        <p:nvSpPr>
          <p:cNvPr id="13" name="text-688-444">
            <a:extLst xmlns:a="http://schemas.openxmlformats.org/drawingml/2006/main">
              <a:ext uri="{FF2B5EF4-FFF2-40B4-BE49-F238E27FC236}">
                <a16:creationId xmlns:a16="http://schemas.microsoft.com/office/drawing/2014/main" id="{08B03124-4613-47FD-9D74-E4BC2519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29100"/>
            <a:ext cx="5019675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Seeds, templates e escopo adiado permitem crescer sem apagar o passado.</a:t>
            </a:r>
          </a:p>
        </p:txBody>
      </p:sp>
      <p:sp>
        <p:nvSpPr>
          <p:cNvPr id="14" name="text-41-602">
            <a:extLst xmlns:a="http://schemas.openxmlformats.org/drawingml/2006/main">
              <a:ext uri="{FF2B5EF4-FFF2-40B4-BE49-F238E27FC236}">
                <a16:creationId xmlns:a16="http://schemas.microsoft.com/office/drawing/2014/main" id="{15F4D7D8-76EA-459A-8121-C537221A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34050"/>
            <a:ext cx="11410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99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Modelagem não é desenhar tabelas. É decidir quais mentiras o sistema será incapaz de armazenar.</a:t>
            </a:r>
          </a:p>
        </p:txBody>
      </p:sp>
    </p:spTree>
    <p:extLst>
      <p:ext uri="{BB962C8B-B14F-4D97-AF65-F5344CB8AC3E}">
        <p14:creationId xmlns:p14="http://schemas.microsoft.com/office/powerpoint/2010/main" val="7271972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2026-07-15T03:04:53.0840000Z</dcterms:created>
  <dcterms:modified xsi:type="dcterms:W3CDTF">2026-07-15T03:04:53.0840000Z</dcterms:modified>
</coreProperties>
</file>